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4"/>
    <p:sldMasterId id="2147483663" r:id="rId5"/>
  </p:sldMasterIdLst>
  <p:notesMasterIdLst>
    <p:notesMasterId r:id="rId27"/>
  </p:notesMasterIdLst>
  <p:sldIdLst>
    <p:sldId id="390" r:id="rId6"/>
    <p:sldId id="397" r:id="rId7"/>
    <p:sldId id="409" r:id="rId8"/>
    <p:sldId id="415" r:id="rId9"/>
    <p:sldId id="417" r:id="rId10"/>
    <p:sldId id="416" r:id="rId11"/>
    <p:sldId id="437" r:id="rId12"/>
    <p:sldId id="438" r:id="rId13"/>
    <p:sldId id="439" r:id="rId14"/>
    <p:sldId id="441" r:id="rId15"/>
    <p:sldId id="440" r:id="rId16"/>
    <p:sldId id="434" r:id="rId17"/>
    <p:sldId id="435" r:id="rId18"/>
    <p:sldId id="436" r:id="rId19"/>
    <p:sldId id="429" r:id="rId20"/>
    <p:sldId id="427" r:id="rId21"/>
    <p:sldId id="412" r:id="rId22"/>
    <p:sldId id="392" r:id="rId23"/>
    <p:sldId id="430" r:id="rId24"/>
    <p:sldId id="428" r:id="rId25"/>
    <p:sldId id="41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E5B2B3-D8DD-E829-6CDB-4D80A02A6B4D}" name="Taylor Hood" initials="TH" userId="S::thood@udiaqld.com.au::98141b59-d4c0-4e41-950d-1250a8b47028" providerId="AD"/>
  <p188:author id="{269D64D3-37B7-A1A3-3A2C-36D4FEA44C74}" name="Lauren Barker" initials="LB" userId="S::lbarker@udiaqld.com.au::97f55fca-8a8c-4864-a76d-e8679e3784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575"/>
    <a:srgbClr val="7BA7FF"/>
    <a:srgbClr val="00A89A"/>
    <a:srgbClr val="006585"/>
    <a:srgbClr val="A3A3A3"/>
    <a:srgbClr val="FFC000"/>
    <a:srgbClr val="89FFBE"/>
    <a:srgbClr val="99CFE0"/>
    <a:srgbClr val="0086B2"/>
    <a:srgbClr val="0912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06E519-BBF0-44B5-8CDD-88392E6FF660}" v="1" dt="2025-10-12T22:54:53.6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247" autoAdjust="0"/>
  </p:normalViewPr>
  <p:slideViewPr>
    <p:cSldViewPr snapToGrid="0">
      <p:cViewPr varScale="1">
        <p:scale>
          <a:sx n="98" d="100"/>
          <a:sy n="98" d="100"/>
        </p:scale>
        <p:origin x="1038" y="31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9F3DF7-B8A9-4A26-8D92-E7BF5B0D4CDB}" type="datetimeFigureOut">
              <a:rPr lang="en-AU" smtClean="0"/>
              <a:t>15/10/2025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E7889A-0A03-4936-BED5-65237A81E19C}" type="slidenum">
              <a:rPr lang="en-AU" smtClean="0"/>
              <a:t>‹#›</a:t>
            </a:fld>
            <a:endParaRPr lang="en-AU"/>
          </a:p>
        </p:txBody>
      </p:sp>
    </p:spTree>
    <p:extLst>
      <p:ext uri="{BB962C8B-B14F-4D97-AF65-F5344CB8AC3E}">
        <p14:creationId xmlns:p14="http://schemas.microsoft.com/office/powerpoint/2010/main" val="1127036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6CEE1-64FA-0903-1654-51C8526C06A1}"/>
              </a:ext>
            </a:extLst>
          </p:cNvPr>
          <p:cNvSpPr>
            <a:spLocks noGrp="1"/>
          </p:cNvSpPr>
          <p:nvPr>
            <p:ph type="ctrTitle"/>
          </p:nvPr>
        </p:nvSpPr>
        <p:spPr>
          <a:xfrm>
            <a:off x="1524000" y="1122363"/>
            <a:ext cx="9144000" cy="2387600"/>
          </a:xfrm>
        </p:spPr>
        <p:txBody>
          <a:bodyPr anchor="b">
            <a:normAutofit/>
          </a:bodyPr>
          <a:lstStyle>
            <a:lvl1pPr algn="ctr">
              <a:defRPr sz="4800" baseline="0"/>
            </a:lvl1pPr>
          </a:lstStyle>
          <a:p>
            <a:r>
              <a:rPr lang="en-US"/>
              <a:t>Click to edit Master title style</a:t>
            </a:r>
            <a:endParaRPr lang="en-AU"/>
          </a:p>
        </p:txBody>
      </p:sp>
      <p:sp>
        <p:nvSpPr>
          <p:cNvPr id="3" name="Subtitle 2">
            <a:extLst>
              <a:ext uri="{FF2B5EF4-FFF2-40B4-BE49-F238E27FC236}">
                <a16:creationId xmlns:a16="http://schemas.microsoft.com/office/drawing/2014/main" id="{23F976B6-C319-976E-FCE4-AE1687BA2F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Tree>
    <p:extLst>
      <p:ext uri="{BB962C8B-B14F-4D97-AF65-F5344CB8AC3E}">
        <p14:creationId xmlns:p14="http://schemas.microsoft.com/office/powerpoint/2010/main" val="2064731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B596B-D53C-83DC-01B3-5EA8947862F6}"/>
              </a:ext>
            </a:extLst>
          </p:cNvPr>
          <p:cNvSpPr>
            <a:spLocks noGrp="1"/>
          </p:cNvSpPr>
          <p:nvPr>
            <p:ph type="title"/>
          </p:nvPr>
        </p:nvSpPr>
        <p:spPr/>
        <p:txBody>
          <a:bodyPr>
            <a:normAutofit/>
          </a:bodyPr>
          <a:lstStyle>
            <a:lvl1pPr>
              <a:defRPr sz="36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BD6F229-8EE4-D13F-0EDE-CA43B0CB55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381245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E1A9-DE94-3DF5-266A-0A80CF377555}"/>
              </a:ext>
            </a:extLst>
          </p:cNvPr>
          <p:cNvSpPr>
            <a:spLocks noGrp="1"/>
          </p:cNvSpPr>
          <p:nvPr>
            <p:ph type="title"/>
          </p:nvPr>
        </p:nvSpPr>
        <p:spPr>
          <a:xfrm>
            <a:off x="831850" y="1709738"/>
            <a:ext cx="10515600" cy="2852737"/>
          </a:xfrm>
        </p:spPr>
        <p:txBody>
          <a:bodyPr anchor="b">
            <a:normAutofit/>
          </a:bodyPr>
          <a:lstStyle>
            <a:lvl1pPr>
              <a:defRPr sz="48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1D7402D-4B95-1A07-666C-747C6801DF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50815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CBCC0-3F44-3344-4D6D-06963A25F21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55215A3-08D9-B17C-8D23-623C2C4C2359}"/>
              </a:ext>
            </a:extLst>
          </p:cNvPr>
          <p:cNvSpPr>
            <a:spLocks noGrp="1"/>
          </p:cNvSpPr>
          <p:nvPr>
            <p:ph sz="half" idx="1"/>
          </p:nvPr>
        </p:nvSpPr>
        <p:spPr>
          <a:xfrm>
            <a:off x="838200" y="1445125"/>
            <a:ext cx="5181600" cy="4731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E15FF71-83B5-C1BE-5E58-54667B049B3A}"/>
              </a:ext>
            </a:extLst>
          </p:cNvPr>
          <p:cNvSpPr>
            <a:spLocks noGrp="1"/>
          </p:cNvSpPr>
          <p:nvPr>
            <p:ph sz="half" idx="2"/>
          </p:nvPr>
        </p:nvSpPr>
        <p:spPr>
          <a:xfrm>
            <a:off x="6172200" y="1445125"/>
            <a:ext cx="5181600" cy="4731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40141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5365D-69D6-C13C-2446-54290C7DFF5E}"/>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367068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328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81339B-0A8C-A41D-34ED-D26B7F1ADF5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1597619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81339B-0A8C-A41D-34ED-D26B7F1ADF5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0" y="0"/>
            <a:ext cx="12192000" cy="6858000"/>
          </a:xfrm>
          <a:prstGeom prst="rect">
            <a:avLst/>
          </a:prstGeom>
        </p:spPr>
      </p:pic>
    </p:spTree>
    <p:extLst>
      <p:ext uri="{BB962C8B-B14F-4D97-AF65-F5344CB8AC3E}">
        <p14:creationId xmlns:p14="http://schemas.microsoft.com/office/powerpoint/2010/main" val="3714269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6CEE1-64FA-0903-1654-51C8526C06A1}"/>
              </a:ext>
            </a:extLst>
          </p:cNvPr>
          <p:cNvSpPr>
            <a:spLocks noGrp="1"/>
          </p:cNvSpPr>
          <p:nvPr>
            <p:ph type="ctrTitle"/>
          </p:nvPr>
        </p:nvSpPr>
        <p:spPr>
          <a:xfrm>
            <a:off x="1524000" y="1122363"/>
            <a:ext cx="9144000" cy="2387600"/>
          </a:xfrm>
        </p:spPr>
        <p:txBody>
          <a:bodyPr anchor="b">
            <a:normAutofit/>
          </a:bodyPr>
          <a:lstStyle>
            <a:lvl1pPr algn="ctr">
              <a:defRPr sz="4800" baseline="0">
                <a:solidFill>
                  <a:schemeClr val="bg2"/>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23F976B6-C319-976E-FCE4-AE1687BA2FC5}"/>
              </a:ext>
            </a:extLst>
          </p:cNvPr>
          <p:cNvSpPr>
            <a:spLocks noGrp="1"/>
          </p:cNvSpPr>
          <p:nvPr>
            <p:ph type="subTitle" idx="1"/>
          </p:nvPr>
        </p:nvSpPr>
        <p:spPr>
          <a:xfrm>
            <a:off x="1524000" y="3602038"/>
            <a:ext cx="9144000" cy="1655762"/>
          </a:xfrm>
        </p:spPr>
        <p:txBody>
          <a:bodyPr/>
          <a:lstStyle>
            <a:lvl1pPr marL="0" indent="0" algn="ctr">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Tree>
    <p:extLst>
      <p:ext uri="{BB962C8B-B14F-4D97-AF65-F5344CB8AC3E}">
        <p14:creationId xmlns:p14="http://schemas.microsoft.com/office/powerpoint/2010/main" val="2401740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B596B-D53C-83DC-01B3-5EA8947862F6}"/>
              </a:ext>
            </a:extLst>
          </p:cNvPr>
          <p:cNvSpPr>
            <a:spLocks noGrp="1"/>
          </p:cNvSpPr>
          <p:nvPr>
            <p:ph type="title"/>
          </p:nvPr>
        </p:nvSpPr>
        <p:spPr>
          <a:xfrm>
            <a:off x="838200" y="365125"/>
            <a:ext cx="10515600" cy="1080000"/>
          </a:xfrm>
        </p:spPr>
        <p:txBody>
          <a:bodyPr>
            <a:normAutofit/>
          </a:bodyPr>
          <a:lstStyle>
            <a:lvl1pPr>
              <a:defRPr sz="36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BD6F229-8EE4-D13F-0EDE-CA43B0CB5539}"/>
              </a:ext>
            </a:extLst>
          </p:cNvPr>
          <p:cNvSpPr>
            <a:spLocks noGrp="1"/>
          </p:cNvSpPr>
          <p:nvPr>
            <p:ph idx="1"/>
          </p:nvPr>
        </p:nvSpPr>
        <p:spPr>
          <a:xfrm>
            <a:off x="838200" y="1445125"/>
            <a:ext cx="10515600" cy="4731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32655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E1A9-DE94-3DF5-266A-0A80CF377555}"/>
              </a:ext>
            </a:extLst>
          </p:cNvPr>
          <p:cNvSpPr>
            <a:spLocks noGrp="1"/>
          </p:cNvSpPr>
          <p:nvPr>
            <p:ph type="title"/>
          </p:nvPr>
        </p:nvSpPr>
        <p:spPr>
          <a:xfrm>
            <a:off x="831850" y="1709738"/>
            <a:ext cx="10515600" cy="2852737"/>
          </a:xfrm>
        </p:spPr>
        <p:txBody>
          <a:bodyPr anchor="b">
            <a:normAutofit/>
          </a:bodyPr>
          <a:lstStyle>
            <a:lvl1pPr>
              <a:defRPr sz="4800">
                <a:solidFill>
                  <a:schemeClr val="bg2"/>
                </a:solidFill>
              </a:defRPr>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1D7402D-4B95-1A07-666C-747C6801DFDC}"/>
              </a:ext>
            </a:extLst>
          </p:cNvPr>
          <p:cNvSpPr>
            <a:spLocks noGrp="1"/>
          </p:cNvSpPr>
          <p:nvPr>
            <p:ph type="body" idx="1"/>
          </p:nvPr>
        </p:nvSpPr>
        <p:spPr>
          <a:xfrm>
            <a:off x="831850" y="4589463"/>
            <a:ext cx="10515600" cy="1500187"/>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129381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CBCC0-3F44-3344-4D6D-06963A25F21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55215A3-08D9-B17C-8D23-623C2C4C23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E15FF71-83B5-C1BE-5E58-54667B049B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04159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5365D-69D6-C13C-2446-54290C7DFF5E}"/>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15810542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9408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Blank">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3085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117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3_Blank">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6208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theme" Target="../theme/theme2.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AF0DC1-EC2C-5A45-7691-1B30979FDE28}"/>
              </a:ext>
            </a:extLst>
          </p:cNvPr>
          <p:cNvSpPr>
            <a:spLocks noGrp="1"/>
          </p:cNvSpPr>
          <p:nvPr>
            <p:ph type="title"/>
          </p:nvPr>
        </p:nvSpPr>
        <p:spPr>
          <a:xfrm>
            <a:off x="838200" y="365125"/>
            <a:ext cx="10515600" cy="1080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CA80699-212D-93FE-D163-1DD6E51FEEEB}"/>
              </a:ext>
            </a:extLst>
          </p:cNvPr>
          <p:cNvSpPr>
            <a:spLocks noGrp="1"/>
          </p:cNvSpPr>
          <p:nvPr>
            <p:ph type="body" idx="1"/>
          </p:nvPr>
        </p:nvSpPr>
        <p:spPr>
          <a:xfrm>
            <a:off x="838200" y="1445124"/>
            <a:ext cx="10515600" cy="48304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994416405"/>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73" r:id="rId7"/>
    <p:sldLayoutId id="2147483674" r:id="rId8"/>
  </p:sldLayoutIdLst>
  <p:txStyles>
    <p:title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AF0DC1-EC2C-5A45-7691-1B30979FDE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CA80699-212D-93FE-D163-1DD6E51FEE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78504166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Lst>
  <p:txStyles>
    <p:titleStyle>
      <a:lvl1pPr algn="l" defTabSz="914400" rtl="0" eaLnBrk="1" latinLnBrk="0" hangingPunct="1">
        <a:lnSpc>
          <a:spcPct val="90000"/>
        </a:lnSpc>
        <a:spcBef>
          <a:spcPct val="0"/>
        </a:spcBef>
        <a:buNone/>
        <a:defRPr sz="4400" kern="1200" spc="15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arxiv.org/abs/2402.01680" TargetMode="External"/><Relationship Id="rId2" Type="http://schemas.openxmlformats.org/officeDocument/2006/relationships/hyperlink" Target="https://arxiv.org/abs/2312.10997" TargetMode="External"/><Relationship Id="rId1" Type="http://schemas.openxmlformats.org/officeDocument/2006/relationships/slideLayout" Target="../slideLayouts/slideLayout7.xml"/><Relationship Id="rId4" Type="http://schemas.openxmlformats.org/officeDocument/2006/relationships/hyperlink" Target="https://arxiv.org/abs/2312.06141"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archive.org/details/google-ai-agents-whitepaper" TargetMode="External"/><Relationship Id="rId2" Type="http://schemas.openxmlformats.org/officeDocument/2006/relationships/hyperlink" Target="https://doi.org/10.1145/3698590" TargetMode="External"/><Relationship Id="rId1" Type="http://schemas.openxmlformats.org/officeDocument/2006/relationships/slideLayout" Target="../slideLayouts/slideLayout7.xml"/><Relationship Id="rId4" Type="http://schemas.openxmlformats.org/officeDocument/2006/relationships/hyperlink" Target="https://arxiv.org/abs/2404.1350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028BE-035C-0BB4-CEA6-8B54AEBC6C17}"/>
              </a:ext>
            </a:extLst>
          </p:cNvPr>
          <p:cNvSpPr txBox="1">
            <a:spLocks/>
          </p:cNvSpPr>
          <p:nvPr/>
        </p:nvSpPr>
        <p:spPr>
          <a:xfrm>
            <a:off x="968721" y="1702050"/>
            <a:ext cx="10502020" cy="2960485"/>
          </a:xfrm>
          <a:prstGeom prst="rect">
            <a:avLst/>
          </a:prstGeom>
        </p:spPr>
        <p:txBody>
          <a:bodyPr>
            <a:normAutofit lnSpcReduction="10000"/>
          </a:bodyP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AU" sz="3200" dirty="0"/>
              <a:t>Decentralised Ledger Architecture for Trustworthy Multi-Agent Memory</a:t>
            </a:r>
            <a:endParaRPr lang="en-AU" sz="4400" dirty="0"/>
          </a:p>
          <a:p>
            <a:endParaRPr lang="en-AU" sz="3100" dirty="0">
              <a:solidFill>
                <a:schemeClr val="accent1"/>
              </a:solidFill>
            </a:endParaRPr>
          </a:p>
          <a:p>
            <a:r>
              <a:rPr lang="en-AU" sz="3100" dirty="0">
                <a:solidFill>
                  <a:schemeClr val="accent1"/>
                </a:solidFill>
              </a:rPr>
              <a:t>RM8502 – Assessment 2 – Exit Seminar </a:t>
            </a:r>
          </a:p>
          <a:p>
            <a:r>
              <a:rPr lang="en-AU" sz="3100" dirty="0">
                <a:solidFill>
                  <a:schemeClr val="accent1"/>
                </a:solidFill>
              </a:rPr>
              <a:t>James Ross (14472266)</a:t>
            </a:r>
            <a:endParaRPr lang="en-AU" sz="4400" dirty="0">
              <a:solidFill>
                <a:schemeClr val="accent1"/>
              </a:solidFill>
            </a:endParaRPr>
          </a:p>
          <a:p>
            <a:endParaRPr lang="en-AU" sz="3100" dirty="0">
              <a:solidFill>
                <a:schemeClr val="accent1"/>
              </a:solidFill>
            </a:endParaRPr>
          </a:p>
          <a:p>
            <a:r>
              <a:rPr lang="en-AU" sz="3100" dirty="0">
                <a:solidFill>
                  <a:schemeClr val="accent1"/>
                </a:solidFill>
              </a:rPr>
              <a:t>Advisor: Prof. </a:t>
            </a:r>
            <a:r>
              <a:rPr lang="en-AU" sz="3100" dirty="0" err="1">
                <a:solidFill>
                  <a:schemeClr val="accent1"/>
                </a:solidFill>
              </a:rPr>
              <a:t>Ickjai</a:t>
            </a:r>
            <a:r>
              <a:rPr lang="en-AU" sz="3100" dirty="0">
                <a:solidFill>
                  <a:schemeClr val="accent1"/>
                </a:solidFill>
              </a:rPr>
              <a:t> Lee (Head, Information Technology)</a:t>
            </a:r>
            <a:endParaRPr lang="en-AU" sz="4400" dirty="0">
              <a:solidFill>
                <a:schemeClr val="accent1"/>
              </a:solidFill>
            </a:endParaRPr>
          </a:p>
          <a:p>
            <a:endParaRPr lang="en-AU" sz="3100" dirty="0">
              <a:solidFill>
                <a:schemeClr val="accent1"/>
              </a:solidFill>
            </a:endParaRPr>
          </a:p>
        </p:txBody>
      </p:sp>
    </p:spTree>
    <p:extLst>
      <p:ext uri="{BB962C8B-B14F-4D97-AF65-F5344CB8AC3E}">
        <p14:creationId xmlns:p14="http://schemas.microsoft.com/office/powerpoint/2010/main" val="100499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2027211-9197-8552-878D-2C4C2D24F874}"/>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Agenda</a:t>
            </a:r>
            <a:endParaRPr lang="en-AU" dirty="0"/>
          </a:p>
        </p:txBody>
      </p:sp>
      <p:sp>
        <p:nvSpPr>
          <p:cNvPr id="8" name="Content Placeholder 2">
            <a:extLst>
              <a:ext uri="{FF2B5EF4-FFF2-40B4-BE49-F238E27FC236}">
                <a16:creationId xmlns:a16="http://schemas.microsoft.com/office/drawing/2014/main" id="{C2161E1A-116D-161B-ABF5-DF5817D27F38}"/>
              </a:ext>
            </a:extLst>
          </p:cNvPr>
          <p:cNvSpPr txBox="1">
            <a:spLocks/>
          </p:cNvSpPr>
          <p:nvPr/>
        </p:nvSpPr>
        <p:spPr>
          <a:xfrm>
            <a:off x="838199" y="1196502"/>
            <a:ext cx="10950527" cy="529637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dirty="0"/>
              <a:t>Introduction:</a:t>
            </a:r>
          </a:p>
          <a:p>
            <a:pPr lvl="1"/>
            <a:r>
              <a:rPr lang="en-GB" sz="1700" dirty="0"/>
              <a:t>The Problem – Literature Gap</a:t>
            </a:r>
          </a:p>
          <a:p>
            <a:pPr lvl="1"/>
            <a:r>
              <a:rPr lang="en-GB" sz="1700" dirty="0"/>
              <a:t>Why Blockchain Technology?</a:t>
            </a:r>
          </a:p>
          <a:p>
            <a:pPr lvl="1"/>
            <a:r>
              <a:rPr lang="en-GB" sz="1700" dirty="0"/>
              <a:t>Research Aim &amp; Core Question</a:t>
            </a:r>
          </a:p>
          <a:p>
            <a:r>
              <a:rPr lang="en-GB" sz="2100" dirty="0"/>
              <a:t>Methodology:</a:t>
            </a:r>
          </a:p>
          <a:p>
            <a:pPr lvl="1"/>
            <a:r>
              <a:rPr lang="en-GB" sz="1700" dirty="0"/>
              <a:t>Study Design &amp; Key Metrics</a:t>
            </a:r>
          </a:p>
          <a:p>
            <a:pPr lvl="1"/>
            <a:r>
              <a:rPr lang="en-GB" sz="1700" dirty="0"/>
              <a:t>Simulation Design</a:t>
            </a:r>
          </a:p>
          <a:p>
            <a:pPr lvl="1"/>
            <a:r>
              <a:rPr lang="en-GB" sz="1700" dirty="0"/>
              <a:t>Experimental Design</a:t>
            </a:r>
          </a:p>
          <a:p>
            <a:pPr lvl="1"/>
            <a:r>
              <a:rPr lang="en-GB" sz="1700" dirty="0"/>
              <a:t>Data Collection &amp; Analysis</a:t>
            </a:r>
          </a:p>
          <a:p>
            <a:r>
              <a:rPr lang="en-GB" sz="2100" dirty="0"/>
              <a:t>Results:</a:t>
            </a:r>
          </a:p>
          <a:p>
            <a:pPr lvl="1"/>
            <a:r>
              <a:rPr lang="en-GB" sz="1700" dirty="0"/>
              <a:t>Flawless Provenance</a:t>
            </a:r>
          </a:p>
          <a:p>
            <a:pPr lvl="1"/>
            <a:r>
              <a:rPr lang="en-GB" sz="1700" dirty="0"/>
              <a:t>Predictable Cost </a:t>
            </a:r>
          </a:p>
          <a:p>
            <a:pPr lvl="1"/>
            <a:r>
              <a:rPr lang="en-GB" sz="1700" dirty="0"/>
              <a:t>Core Performance Trade-off</a:t>
            </a:r>
            <a:endParaRPr lang="en-GB" sz="2100" dirty="0"/>
          </a:p>
          <a:p>
            <a:r>
              <a:rPr lang="en-GB" sz="2100" dirty="0"/>
              <a:t>Discussion</a:t>
            </a:r>
          </a:p>
          <a:p>
            <a:r>
              <a:rPr lang="en-GB" sz="2100" dirty="0"/>
              <a:t>Conclusion</a:t>
            </a:r>
          </a:p>
          <a:p>
            <a:pPr marL="457200" lvl="1" indent="0">
              <a:buNone/>
            </a:pPr>
            <a:endParaRPr lang="en-GB" sz="1700" dirty="0"/>
          </a:p>
          <a:p>
            <a:pPr lvl="1"/>
            <a:endParaRPr lang="en-GB" sz="1700" dirty="0"/>
          </a:p>
          <a:p>
            <a:pPr lvl="1"/>
            <a:endParaRPr lang="en-GB" sz="1700" dirty="0"/>
          </a:p>
        </p:txBody>
      </p:sp>
    </p:spTree>
    <p:extLst>
      <p:ext uri="{BB962C8B-B14F-4D97-AF65-F5344CB8AC3E}">
        <p14:creationId xmlns:p14="http://schemas.microsoft.com/office/powerpoint/2010/main" val="1733463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17D96-8852-8CBD-5525-AEFA148E0B2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38D252D-E796-2D3A-A13F-60C690CCA4A5}"/>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The Problem – Literature Gap</a:t>
            </a:r>
            <a:endParaRPr lang="en-AU" dirty="0"/>
          </a:p>
        </p:txBody>
      </p:sp>
      <p:sp>
        <p:nvSpPr>
          <p:cNvPr id="8" name="Content Placeholder 2">
            <a:extLst>
              <a:ext uri="{FF2B5EF4-FFF2-40B4-BE49-F238E27FC236}">
                <a16:creationId xmlns:a16="http://schemas.microsoft.com/office/drawing/2014/main" id="{3183A46D-F5A5-9E4D-FF9B-59A6C8B553E9}"/>
              </a:ext>
            </a:extLst>
          </p:cNvPr>
          <p:cNvSpPr txBox="1">
            <a:spLocks/>
          </p:cNvSpPr>
          <p:nvPr/>
        </p:nvSpPr>
        <p:spPr>
          <a:xfrm>
            <a:off x="838199" y="1445125"/>
            <a:ext cx="10162736" cy="437545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dirty="0"/>
              <a:t>Literature Review - Memory Mechanisms for Large Language Model-Based Agents</a:t>
            </a:r>
            <a:r>
              <a:rPr lang="en-AU" sz="2100" dirty="0"/>
              <a:t>.</a:t>
            </a:r>
          </a:p>
          <a:p>
            <a:r>
              <a:rPr lang="en-AU" sz="2100" dirty="0"/>
              <a:t>Single-agent memory advanced; Significant gap in Multi-Agent coordination.</a:t>
            </a:r>
            <a:endParaRPr lang="en-GB" sz="2100" dirty="0"/>
          </a:p>
          <a:p>
            <a:pPr lvl="1"/>
            <a:endParaRPr lang="en-GB" sz="1700" dirty="0"/>
          </a:p>
          <a:p>
            <a:pPr lvl="1"/>
            <a:endParaRPr lang="en-GB" sz="1700" dirty="0"/>
          </a:p>
          <a:p>
            <a:pPr lvl="1"/>
            <a:endParaRPr lang="en-GB" sz="1700" dirty="0"/>
          </a:p>
          <a:p>
            <a:endParaRPr lang="en-GB" sz="2100" dirty="0"/>
          </a:p>
          <a:p>
            <a:pPr lvl="1"/>
            <a:endParaRPr lang="en-GB" sz="1700" dirty="0"/>
          </a:p>
          <a:p>
            <a:pPr lvl="1"/>
            <a:endParaRPr lang="en-GB" sz="1700" dirty="0"/>
          </a:p>
          <a:p>
            <a:pPr lvl="1"/>
            <a:endParaRPr lang="en-GB" sz="1700" dirty="0"/>
          </a:p>
        </p:txBody>
      </p:sp>
      <p:pic>
        <p:nvPicPr>
          <p:cNvPr id="4" name="Picture 3">
            <a:extLst>
              <a:ext uri="{FF2B5EF4-FFF2-40B4-BE49-F238E27FC236}">
                <a16:creationId xmlns:a16="http://schemas.microsoft.com/office/drawing/2014/main" id="{E1D7383C-5C4D-C2B3-3306-5769529C5EED}"/>
              </a:ext>
            </a:extLst>
          </p:cNvPr>
          <p:cNvPicPr>
            <a:picLocks noChangeAspect="1"/>
          </p:cNvPicPr>
          <p:nvPr/>
        </p:nvPicPr>
        <p:blipFill>
          <a:blip r:embed="rId2"/>
          <a:stretch>
            <a:fillRect/>
          </a:stretch>
        </p:blipFill>
        <p:spPr>
          <a:xfrm>
            <a:off x="1057681" y="2447304"/>
            <a:ext cx="9037816" cy="4185343"/>
          </a:xfrm>
          <a:prstGeom prst="rect">
            <a:avLst/>
          </a:prstGeom>
        </p:spPr>
      </p:pic>
    </p:spTree>
    <p:extLst>
      <p:ext uri="{BB962C8B-B14F-4D97-AF65-F5344CB8AC3E}">
        <p14:creationId xmlns:p14="http://schemas.microsoft.com/office/powerpoint/2010/main" val="3507300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C4FE4-F6AB-5919-81CF-3C96C1ABC61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1878C35-C4F0-CBBF-FED6-56BC30EE8B2A}"/>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Literature Gap cont.</a:t>
            </a:r>
            <a:endParaRPr lang="en-AU" dirty="0"/>
          </a:p>
        </p:txBody>
      </p:sp>
      <p:sp>
        <p:nvSpPr>
          <p:cNvPr id="8" name="Content Placeholder 2">
            <a:extLst>
              <a:ext uri="{FF2B5EF4-FFF2-40B4-BE49-F238E27FC236}">
                <a16:creationId xmlns:a16="http://schemas.microsoft.com/office/drawing/2014/main" id="{82E790C5-CAE7-7F37-7B60-B9B3D1312EEB}"/>
              </a:ext>
            </a:extLst>
          </p:cNvPr>
          <p:cNvSpPr txBox="1">
            <a:spLocks/>
          </p:cNvSpPr>
          <p:nvPr/>
        </p:nvSpPr>
        <p:spPr>
          <a:xfrm>
            <a:off x="838199" y="1445125"/>
            <a:ext cx="3792167" cy="504775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100" dirty="0"/>
              <a:t>Four pressing gaps uncovered by the review: </a:t>
            </a:r>
          </a:p>
          <a:p>
            <a:r>
              <a:rPr lang="en-GB" sz="2100" dirty="0"/>
              <a:t>Memory Provenance.</a:t>
            </a:r>
          </a:p>
          <a:p>
            <a:r>
              <a:rPr lang="en-GB" sz="2100" dirty="0"/>
              <a:t>Concurrency in Shared Memory.</a:t>
            </a:r>
          </a:p>
          <a:p>
            <a:r>
              <a:rPr lang="en-GB" sz="2100" dirty="0"/>
              <a:t>Auditability; and,</a:t>
            </a:r>
          </a:p>
          <a:p>
            <a:r>
              <a:rPr lang="en-GB" sz="2100" dirty="0"/>
              <a:t>Data Integrity.</a:t>
            </a:r>
          </a:p>
          <a:p>
            <a:endParaRPr lang="en-GB" sz="2100" dirty="0"/>
          </a:p>
          <a:p>
            <a:r>
              <a:rPr lang="en-GB" sz="2100" dirty="0"/>
              <a:t>Mindful of the project’s scope, we focused on Memory Provenance and Data Integrity. </a:t>
            </a:r>
          </a:p>
          <a:p>
            <a:endParaRPr lang="en-GB" sz="2100" dirty="0"/>
          </a:p>
          <a:p>
            <a:endParaRPr lang="en-GB" sz="2100" dirty="0"/>
          </a:p>
          <a:p>
            <a:pPr marL="0" indent="0">
              <a:buNone/>
            </a:pPr>
            <a:endParaRPr lang="en-GB" sz="2100" dirty="0"/>
          </a:p>
          <a:p>
            <a:endParaRPr lang="en-GB" sz="1700" dirty="0"/>
          </a:p>
          <a:p>
            <a:pPr lvl="1"/>
            <a:endParaRPr lang="en-GB" sz="1700" dirty="0"/>
          </a:p>
          <a:p>
            <a:pPr lvl="1"/>
            <a:endParaRPr lang="en-GB" sz="1700" dirty="0"/>
          </a:p>
        </p:txBody>
      </p:sp>
      <p:pic>
        <p:nvPicPr>
          <p:cNvPr id="2" name="Picture 1">
            <a:extLst>
              <a:ext uri="{FF2B5EF4-FFF2-40B4-BE49-F238E27FC236}">
                <a16:creationId xmlns:a16="http://schemas.microsoft.com/office/drawing/2014/main" id="{00EE316D-27D3-A6D3-E231-32BAFA3C6D35}"/>
              </a:ext>
            </a:extLst>
          </p:cNvPr>
          <p:cNvPicPr>
            <a:picLocks noChangeAspect="1"/>
          </p:cNvPicPr>
          <p:nvPr/>
        </p:nvPicPr>
        <p:blipFill>
          <a:blip r:embed="rId2"/>
          <a:stretch>
            <a:fillRect/>
          </a:stretch>
        </p:blipFill>
        <p:spPr>
          <a:xfrm>
            <a:off x="4851299" y="1572574"/>
            <a:ext cx="7191214" cy="4067234"/>
          </a:xfrm>
          <a:prstGeom prst="rect">
            <a:avLst/>
          </a:prstGeom>
        </p:spPr>
      </p:pic>
    </p:spTree>
    <p:extLst>
      <p:ext uri="{BB962C8B-B14F-4D97-AF65-F5344CB8AC3E}">
        <p14:creationId xmlns:p14="http://schemas.microsoft.com/office/powerpoint/2010/main" val="3449291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CF26D-9FED-6CAB-F65B-9AD1F1AE2B2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8798759-C6C3-62A5-1EB3-894BDF133891}"/>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Why Blockchain Technology? </a:t>
            </a:r>
            <a:endParaRPr lang="en-AU" dirty="0"/>
          </a:p>
        </p:txBody>
      </p:sp>
      <p:sp>
        <p:nvSpPr>
          <p:cNvPr id="8" name="Content Placeholder 2">
            <a:extLst>
              <a:ext uri="{FF2B5EF4-FFF2-40B4-BE49-F238E27FC236}">
                <a16:creationId xmlns:a16="http://schemas.microsoft.com/office/drawing/2014/main" id="{645369C6-9DA8-8E7C-35FC-A594B7023330}"/>
              </a:ext>
            </a:extLst>
          </p:cNvPr>
          <p:cNvSpPr txBox="1">
            <a:spLocks/>
          </p:cNvSpPr>
          <p:nvPr/>
        </p:nvSpPr>
        <p:spPr>
          <a:xfrm>
            <a:off x="838200" y="1445125"/>
            <a:ext cx="10222150" cy="159963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dirty="0"/>
              <a:t>Blockchain technology is a natural fit for the two selected research gaps (Crosby et a;. 2016):</a:t>
            </a:r>
          </a:p>
          <a:p>
            <a:pPr lvl="1"/>
            <a:r>
              <a:rPr lang="en-GB" sz="2100" dirty="0"/>
              <a:t>Cryptographic signatures </a:t>
            </a:r>
            <a:r>
              <a:rPr lang="en-AU" sz="2100" dirty="0"/>
              <a:t>→ verifiable provenance </a:t>
            </a:r>
          </a:p>
          <a:p>
            <a:pPr lvl="1"/>
            <a:r>
              <a:rPr lang="en-GB" sz="2100" dirty="0"/>
              <a:t>Append-only ledger </a:t>
            </a:r>
            <a:r>
              <a:rPr lang="en-AU" sz="2000" dirty="0"/>
              <a:t>→ </a:t>
            </a:r>
            <a:r>
              <a:rPr lang="en-AU" sz="2100" dirty="0"/>
              <a:t>immutable history (data integrity)</a:t>
            </a:r>
          </a:p>
          <a:p>
            <a:pPr marL="457200" lvl="1" indent="0">
              <a:buNone/>
            </a:pPr>
            <a:endParaRPr lang="en-GB" sz="1700" dirty="0"/>
          </a:p>
          <a:p>
            <a:endParaRPr lang="en-GB" sz="2100" dirty="0"/>
          </a:p>
          <a:p>
            <a:pPr lvl="1"/>
            <a:endParaRPr lang="en-GB" sz="1700" dirty="0"/>
          </a:p>
          <a:p>
            <a:endParaRPr lang="en-AU" sz="2100" dirty="0"/>
          </a:p>
          <a:p>
            <a:endParaRPr lang="en-GB" sz="2100" dirty="0"/>
          </a:p>
          <a:p>
            <a:pPr marL="0" indent="0">
              <a:buNone/>
            </a:pPr>
            <a:endParaRPr lang="en-GB" sz="2100" dirty="0"/>
          </a:p>
          <a:p>
            <a:endParaRPr lang="en-GB" sz="1700" dirty="0"/>
          </a:p>
          <a:p>
            <a:pPr lvl="1"/>
            <a:endParaRPr lang="en-GB" sz="1700" dirty="0"/>
          </a:p>
          <a:p>
            <a:pPr lvl="1"/>
            <a:endParaRPr lang="en-GB" sz="1700" dirty="0"/>
          </a:p>
        </p:txBody>
      </p:sp>
    </p:spTree>
    <p:extLst>
      <p:ext uri="{BB962C8B-B14F-4D97-AF65-F5344CB8AC3E}">
        <p14:creationId xmlns:p14="http://schemas.microsoft.com/office/powerpoint/2010/main" val="3276790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090FF-47CF-BCB7-DD9A-B30E066A01A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4069EB7-64F5-8449-CA96-D16BA22385F3}"/>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Research Aim &amp; Core Question</a:t>
            </a:r>
            <a:endParaRPr lang="en-AU" dirty="0"/>
          </a:p>
        </p:txBody>
      </p:sp>
      <p:sp>
        <p:nvSpPr>
          <p:cNvPr id="8" name="Content Placeholder 2">
            <a:extLst>
              <a:ext uri="{FF2B5EF4-FFF2-40B4-BE49-F238E27FC236}">
                <a16:creationId xmlns:a16="http://schemas.microsoft.com/office/drawing/2014/main" id="{94C8FD29-EAA7-B2A6-D49F-1778116CDA49}"/>
              </a:ext>
            </a:extLst>
          </p:cNvPr>
          <p:cNvSpPr txBox="1">
            <a:spLocks/>
          </p:cNvSpPr>
          <p:nvPr/>
        </p:nvSpPr>
        <p:spPr>
          <a:xfrm>
            <a:off x="838199" y="1445125"/>
            <a:ext cx="10950527" cy="504775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100" dirty="0"/>
              <a:t>Research Aim: </a:t>
            </a:r>
          </a:p>
          <a:p>
            <a:pPr marL="0" indent="0">
              <a:buNone/>
            </a:pPr>
            <a:r>
              <a:rPr lang="en-GB" sz="2100" dirty="0"/>
              <a:t>The aim of this project was to determine the feasibility of using a blockchain for trustworthy AI agent memory. This was achieved by designing a proof-of-concept architecture and then rigorously testing its performance, cost, and scalability under different data loads.</a:t>
            </a:r>
          </a:p>
          <a:p>
            <a:pPr marL="0" indent="0">
              <a:buNone/>
            </a:pPr>
            <a:endParaRPr lang="en-GB" sz="2100" dirty="0"/>
          </a:p>
          <a:p>
            <a:pPr marL="0" indent="0">
              <a:buNone/>
            </a:pPr>
            <a:r>
              <a:rPr lang="en-GB" sz="2100" dirty="0"/>
              <a:t>Research Question:</a:t>
            </a:r>
          </a:p>
          <a:p>
            <a:pPr marL="0" indent="0">
              <a:buNone/>
            </a:pPr>
            <a:r>
              <a:rPr lang="en-GB" sz="2100" dirty="0"/>
              <a:t>A blockchain-based system is a feasible way to create a trustworthy, shared memory for AI agents, where they can verify the source and integrity of information. 	</a:t>
            </a:r>
          </a:p>
          <a:p>
            <a:pPr marL="0" indent="0">
              <a:buNone/>
            </a:pPr>
            <a:endParaRPr lang="en-GB" sz="2100" dirty="0">
              <a:solidFill>
                <a:srgbClr val="FF0000"/>
              </a:solidFill>
            </a:endParaRPr>
          </a:p>
          <a:p>
            <a:pPr lvl="1"/>
            <a:endParaRPr lang="en-GB" sz="1700" dirty="0"/>
          </a:p>
          <a:p>
            <a:endParaRPr lang="en-GB" sz="2100" dirty="0"/>
          </a:p>
          <a:p>
            <a:endParaRPr lang="en-GB" sz="1700" dirty="0"/>
          </a:p>
          <a:p>
            <a:pPr lvl="1"/>
            <a:endParaRPr lang="en-GB" sz="1700" dirty="0"/>
          </a:p>
          <a:p>
            <a:pPr lvl="1"/>
            <a:endParaRPr lang="en-GB" sz="1700" dirty="0"/>
          </a:p>
        </p:txBody>
      </p:sp>
    </p:spTree>
    <p:extLst>
      <p:ext uri="{BB962C8B-B14F-4D97-AF65-F5344CB8AC3E}">
        <p14:creationId xmlns:p14="http://schemas.microsoft.com/office/powerpoint/2010/main" val="2538521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530AC-307E-B5CB-2D2A-F39B15B4C47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6384064-8DC8-70AC-8AE0-9EB3AAB18249}"/>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Methodology &amp; Key Metrics</a:t>
            </a:r>
            <a:endParaRPr lang="en-AU" dirty="0"/>
          </a:p>
        </p:txBody>
      </p:sp>
      <p:sp>
        <p:nvSpPr>
          <p:cNvPr id="2" name="Content Placeholder 2">
            <a:extLst>
              <a:ext uri="{FF2B5EF4-FFF2-40B4-BE49-F238E27FC236}">
                <a16:creationId xmlns:a16="http://schemas.microsoft.com/office/drawing/2014/main" id="{651D402D-D9B9-5C3A-EB4D-2E6059B67611}"/>
              </a:ext>
            </a:extLst>
          </p:cNvPr>
          <p:cNvSpPr txBox="1">
            <a:spLocks/>
          </p:cNvSpPr>
          <p:nvPr/>
        </p:nvSpPr>
        <p:spPr>
          <a:xfrm>
            <a:off x="838200" y="1350661"/>
            <a:ext cx="4490937" cy="4470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kern="100" dirty="0">
                <a:effectLst/>
                <a:latin typeface="Aptos" panose="020B0004020202020204" pitchFamily="34" charset="0"/>
                <a:ea typeface="Aptos" panose="020B0004020202020204" pitchFamily="34" charset="0"/>
                <a:cs typeface="Times New Roman" panose="02020603050405020304" pitchFamily="18" charset="0"/>
              </a:rPr>
              <a:t>Study Design: Design -&gt; Simulate -&gt; Analyse (Hevner et al., 2004)</a:t>
            </a:r>
          </a:p>
          <a:p>
            <a:endParaRPr lang="en-GB" sz="2100" kern="100" dirty="0">
              <a:latin typeface="Aptos" panose="020B0004020202020204" pitchFamily="34" charset="0"/>
              <a:ea typeface="Aptos" panose="020B0004020202020204" pitchFamily="34" charset="0"/>
              <a:cs typeface="Times New Roman" panose="02020603050405020304" pitchFamily="18" charset="0"/>
            </a:endParaRPr>
          </a:p>
          <a:p>
            <a:r>
              <a:rPr lang="en-GB" sz="2100" kern="100" dirty="0">
                <a:latin typeface="Aptos" panose="020B0004020202020204" pitchFamily="34" charset="0"/>
                <a:cs typeface="Times New Roman" panose="02020603050405020304" pitchFamily="18" charset="0"/>
              </a:rPr>
              <a:t>Key Metrics:</a:t>
            </a:r>
          </a:p>
          <a:p>
            <a:pPr lvl="1"/>
            <a:r>
              <a:rPr lang="en-GB" sz="1700" kern="100" dirty="0">
                <a:latin typeface="Aptos" panose="020B0004020202020204" pitchFamily="34" charset="0"/>
                <a:cs typeface="Times New Roman" panose="02020603050405020304" pitchFamily="18" charset="0"/>
              </a:rPr>
              <a:t>Provenance Verification Accuracy (PVA)</a:t>
            </a:r>
          </a:p>
          <a:p>
            <a:pPr lvl="1"/>
            <a:r>
              <a:rPr lang="en-GB" sz="1700" kern="100" dirty="0">
                <a:latin typeface="Aptos" panose="020B0004020202020204" pitchFamily="34" charset="0"/>
                <a:cs typeface="Times New Roman" panose="02020603050405020304" pitchFamily="18" charset="0"/>
              </a:rPr>
              <a:t>Transaction Throughput (TT)</a:t>
            </a:r>
          </a:p>
          <a:p>
            <a:pPr lvl="1"/>
            <a:r>
              <a:rPr lang="en-GB" sz="1700" kern="100" dirty="0">
                <a:latin typeface="Aptos" panose="020B0004020202020204" pitchFamily="34" charset="0"/>
                <a:cs typeface="Times New Roman" panose="02020603050405020304" pitchFamily="18" charset="0"/>
              </a:rPr>
              <a:t>Verification Latency (VL)</a:t>
            </a:r>
          </a:p>
          <a:p>
            <a:pPr lvl="1"/>
            <a:r>
              <a:rPr lang="en-GB" sz="1700" kern="100" dirty="0">
                <a:latin typeface="Aptos" panose="020B0004020202020204" pitchFamily="34" charset="0"/>
                <a:cs typeface="Times New Roman" panose="02020603050405020304" pitchFamily="18" charset="0"/>
              </a:rPr>
              <a:t>Average Gas Cost </a:t>
            </a:r>
          </a:p>
          <a:p>
            <a:pPr marL="457200" lvl="1" indent="0">
              <a:buNone/>
            </a:pPr>
            <a:endParaRPr lang="en-GB" sz="1700" kern="100" dirty="0">
              <a:latin typeface="Aptos" panose="020B0004020202020204" pitchFamily="34" charset="0"/>
              <a:cs typeface="Times New Roman" panose="02020603050405020304" pitchFamily="18" charset="0"/>
            </a:endParaRPr>
          </a:p>
          <a:p>
            <a:r>
              <a:rPr lang="en-GB" sz="2100" kern="100" dirty="0">
                <a:latin typeface="Aptos" panose="020B0004020202020204" pitchFamily="34" charset="0"/>
                <a:cs typeface="Times New Roman" panose="02020603050405020304" pitchFamily="18" charset="0"/>
              </a:rPr>
              <a:t>Tamper simulation omitted from this project.</a:t>
            </a:r>
          </a:p>
          <a:p>
            <a:pPr lvl="1"/>
            <a:endParaRPr lang="en-AU" sz="1700" kern="100" dirty="0">
              <a:latin typeface="Aptos" panose="020B0004020202020204" pitchFamily="34" charset="0"/>
              <a:cs typeface="Times New Roman" panose="02020603050405020304" pitchFamily="18" charset="0"/>
            </a:endParaRPr>
          </a:p>
          <a:p>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a:p>
            <a:pPr lvl="1"/>
            <a:endParaRPr lang="en-GB" sz="1700" dirty="0"/>
          </a:p>
        </p:txBody>
      </p:sp>
      <p:graphicFrame>
        <p:nvGraphicFramePr>
          <p:cNvPr id="4" name="Table 3">
            <a:extLst>
              <a:ext uri="{FF2B5EF4-FFF2-40B4-BE49-F238E27FC236}">
                <a16:creationId xmlns:a16="http://schemas.microsoft.com/office/drawing/2014/main" id="{115FBDEF-EE68-9E20-7EA9-4A9E67FDC0E2}"/>
              </a:ext>
            </a:extLst>
          </p:cNvPr>
          <p:cNvGraphicFramePr>
            <a:graphicFrameLocks noGrp="1"/>
          </p:cNvGraphicFramePr>
          <p:nvPr>
            <p:extLst>
              <p:ext uri="{D42A27DB-BD31-4B8C-83A1-F6EECF244321}">
                <p14:modId xmlns:p14="http://schemas.microsoft.com/office/powerpoint/2010/main" val="2664406995"/>
              </p:ext>
            </p:extLst>
          </p:nvPr>
        </p:nvGraphicFramePr>
        <p:xfrm>
          <a:off x="5398851" y="2050629"/>
          <a:ext cx="6595352" cy="4575505"/>
        </p:xfrm>
        <a:graphic>
          <a:graphicData uri="http://schemas.openxmlformats.org/drawingml/2006/table">
            <a:tbl>
              <a:tblPr/>
              <a:tblGrid>
                <a:gridCol w="1609518">
                  <a:extLst>
                    <a:ext uri="{9D8B030D-6E8A-4147-A177-3AD203B41FA5}">
                      <a16:colId xmlns:a16="http://schemas.microsoft.com/office/drawing/2014/main" val="3505856429"/>
                    </a:ext>
                  </a:extLst>
                </a:gridCol>
                <a:gridCol w="1399808">
                  <a:extLst>
                    <a:ext uri="{9D8B030D-6E8A-4147-A177-3AD203B41FA5}">
                      <a16:colId xmlns:a16="http://schemas.microsoft.com/office/drawing/2014/main" val="1214271649"/>
                    </a:ext>
                  </a:extLst>
                </a:gridCol>
                <a:gridCol w="3586026">
                  <a:extLst>
                    <a:ext uri="{9D8B030D-6E8A-4147-A177-3AD203B41FA5}">
                      <a16:colId xmlns:a16="http://schemas.microsoft.com/office/drawing/2014/main" val="2914164411"/>
                    </a:ext>
                  </a:extLst>
                </a:gridCol>
              </a:tblGrid>
              <a:tr h="299279">
                <a:tc>
                  <a:txBody>
                    <a:bodyPr/>
                    <a:lstStyle/>
                    <a:p>
                      <a:pPr algn="l" fontAlgn="ctr">
                        <a:buNone/>
                      </a:pPr>
                      <a:r>
                        <a:rPr lang="en-AU" sz="1100" b="1" i="0" u="none" strike="noStrike">
                          <a:solidFill>
                            <a:srgbClr val="FFFFFF"/>
                          </a:solidFill>
                          <a:effectLst/>
                          <a:latin typeface="Aptos" panose="020B0004020202020204" pitchFamily="34" charset="0"/>
                        </a:rPr>
                        <a:t>Metric</a:t>
                      </a:r>
                    </a:p>
                  </a:txBody>
                  <a:tcPr marL="75271" marR="8363" marT="8363" marB="0" anchor="ctr">
                    <a:lnL>
                      <a:noFill/>
                    </a:lnL>
                    <a:lnR>
                      <a:noFill/>
                    </a:lnR>
                    <a:lnT>
                      <a:noFill/>
                    </a:lnT>
                    <a:lnB w="12700" cap="flat" cmpd="sng" algn="ctr">
                      <a:solidFill>
                        <a:srgbClr val="FFFFFF"/>
                      </a:solidFill>
                      <a:prstDash val="solid"/>
                      <a:round/>
                      <a:headEnd type="none" w="med" len="med"/>
                      <a:tailEnd type="none" w="med" len="med"/>
                    </a:lnB>
                    <a:solidFill>
                      <a:srgbClr val="000000"/>
                    </a:solidFill>
                  </a:tcPr>
                </a:tc>
                <a:tc>
                  <a:txBody>
                    <a:bodyPr/>
                    <a:lstStyle/>
                    <a:p>
                      <a:pPr algn="l" fontAlgn="ctr">
                        <a:buNone/>
                      </a:pPr>
                      <a:r>
                        <a:rPr lang="en-AU" sz="1100" b="1" i="0" u="none" strike="noStrike">
                          <a:solidFill>
                            <a:srgbClr val="FFFFFF"/>
                          </a:solidFill>
                          <a:effectLst/>
                          <a:latin typeface="Aptos" panose="020B0004020202020204" pitchFamily="34" charset="0"/>
                        </a:rPr>
                        <a:t>Definition Example</a:t>
                      </a:r>
                    </a:p>
                  </a:txBody>
                  <a:tcPr marL="75271" marR="8363" marT="8363" marB="0" anchor="ctr">
                    <a:lnL>
                      <a:noFill/>
                    </a:lnL>
                    <a:lnR>
                      <a:noFill/>
                    </a:lnR>
                    <a:lnT>
                      <a:noFill/>
                    </a:lnT>
                    <a:lnB w="12700" cap="flat" cmpd="sng" algn="ctr">
                      <a:solidFill>
                        <a:srgbClr val="FFFFFF"/>
                      </a:solidFill>
                      <a:prstDash val="solid"/>
                      <a:round/>
                      <a:headEnd type="none" w="med" len="med"/>
                      <a:tailEnd type="none" w="med" len="med"/>
                    </a:lnB>
                    <a:solidFill>
                      <a:srgbClr val="000000"/>
                    </a:solidFill>
                  </a:tcPr>
                </a:tc>
                <a:tc>
                  <a:txBody>
                    <a:bodyPr/>
                    <a:lstStyle/>
                    <a:p>
                      <a:pPr algn="l" fontAlgn="ctr">
                        <a:buNone/>
                      </a:pPr>
                      <a:r>
                        <a:rPr lang="en-AU" sz="1100" b="1" i="0" u="none" strike="noStrike">
                          <a:solidFill>
                            <a:srgbClr val="FFFFFF"/>
                          </a:solidFill>
                          <a:effectLst/>
                          <a:latin typeface="Aptos" panose="020B0004020202020204" pitchFamily="34" charset="0"/>
                        </a:rPr>
                        <a:t>Measurement Method</a:t>
                      </a:r>
                    </a:p>
                  </a:txBody>
                  <a:tcPr marL="75271" marR="8363" marT="8363" marB="0" anchor="ctr">
                    <a:lnL>
                      <a:noFill/>
                    </a:lnL>
                    <a:lnR>
                      <a:noFill/>
                    </a:lnR>
                    <a:lnT>
                      <a:noFill/>
                    </a:lnT>
                    <a:lnB w="127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2938872932"/>
                  </a:ext>
                </a:extLst>
              </a:tr>
              <a:tr h="883271">
                <a:tc>
                  <a:txBody>
                    <a:bodyPr/>
                    <a:lstStyle/>
                    <a:p>
                      <a:pPr algn="l" fontAlgn="ctr">
                        <a:buNone/>
                      </a:pPr>
                      <a:r>
                        <a:rPr lang="en-AU" sz="1100" b="0" i="0" u="none" strike="noStrike">
                          <a:solidFill>
                            <a:srgbClr val="FFFFFF"/>
                          </a:solidFill>
                          <a:effectLst/>
                          <a:latin typeface="Aptos" panose="020B0004020202020204" pitchFamily="34" charset="0"/>
                        </a:rPr>
                        <a:t>Provenance Verification Accuracy (PVA)</a:t>
                      </a:r>
                    </a:p>
                  </a:txBody>
                  <a:tcPr marL="75271" marR="8363" marT="8363" marB="0" anchor="ctr">
                    <a:lnL>
                      <a:noFill/>
                    </a:lnL>
                    <a:lnR>
                      <a:noFill/>
                    </a:lnR>
                    <a:lnT w="12700" cap="flat" cmpd="sng" algn="ctr">
                      <a:solidFill>
                        <a:srgbClr val="FFFFFF"/>
                      </a:solidFill>
                      <a:prstDash val="solid"/>
                      <a:round/>
                      <a:headEnd type="none" w="med" len="med"/>
                      <a:tailEnd type="none" w="med" len="med"/>
                    </a:lnT>
                    <a:lnB>
                      <a:noFill/>
                    </a:lnB>
                    <a:solidFill>
                      <a:srgbClr val="404040"/>
                    </a:solidFill>
                  </a:tcPr>
                </a:tc>
                <a:tc>
                  <a:txBody>
                    <a:bodyPr/>
                    <a:lstStyle/>
                    <a:p>
                      <a:pPr algn="l" fontAlgn="ctr">
                        <a:buNone/>
                      </a:pPr>
                      <a:r>
                        <a:rPr lang="en-AU" sz="1100" b="0" i="0" u="none" strike="noStrike">
                          <a:solidFill>
                            <a:srgbClr val="FFFFFF"/>
                          </a:solidFill>
                          <a:effectLst/>
                          <a:latin typeface="Aptos" panose="020B0004020202020204" pitchFamily="34" charset="0"/>
                        </a:rPr>
                        <a:t>1.0 or 100%</a:t>
                      </a:r>
                    </a:p>
                  </a:txBody>
                  <a:tcPr marL="75271" marR="8363" marT="8363" marB="0" anchor="ctr">
                    <a:lnL>
                      <a:noFill/>
                    </a:lnL>
                    <a:lnR>
                      <a:noFill/>
                    </a:lnR>
                    <a:lnT w="12700" cap="flat" cmpd="sng" algn="ctr">
                      <a:solidFill>
                        <a:srgbClr val="FFFFFF"/>
                      </a:solidFill>
                      <a:prstDash val="solid"/>
                      <a:round/>
                      <a:headEnd type="none" w="med" len="med"/>
                      <a:tailEnd type="none" w="med" len="med"/>
                    </a:lnT>
                    <a:lnB>
                      <a:noFill/>
                    </a:lnB>
                    <a:solidFill>
                      <a:srgbClr val="404040"/>
                    </a:solidFill>
                  </a:tcPr>
                </a:tc>
                <a:tc>
                  <a:txBody>
                    <a:bodyPr/>
                    <a:lstStyle/>
                    <a:p>
                      <a:pPr algn="l" fontAlgn="ctr">
                        <a:buNone/>
                      </a:pPr>
                      <a:r>
                        <a:rPr lang="en-GB" sz="1100" b="0" i="0" u="none" strike="noStrike">
                          <a:solidFill>
                            <a:srgbClr val="FFFFFF"/>
                          </a:solidFill>
                          <a:effectLst/>
                          <a:latin typeface="Aptos" panose="020B0004020202020204" pitchFamily="34" charset="0"/>
                        </a:rPr>
                        <a:t>Measures system relaibility. Total number of legitimate entries that passed their cryptographic signature verification, divided by the total number of legitimate entries that were submitted. A score of 1.0, or 100%, indicates that the verification process was perfectly reliable for that run.</a:t>
                      </a:r>
                    </a:p>
                  </a:txBody>
                  <a:tcPr marL="75271" marR="8363" marT="8363" marB="0" anchor="ctr">
                    <a:lnL>
                      <a:noFill/>
                    </a:lnL>
                    <a:lnR>
                      <a:noFill/>
                    </a:lnR>
                    <a:lnT w="12700" cap="flat" cmpd="sng" algn="ctr">
                      <a:solidFill>
                        <a:srgbClr val="FFFFFF"/>
                      </a:solidFill>
                      <a:prstDash val="solid"/>
                      <a:round/>
                      <a:headEnd type="none" w="med" len="med"/>
                      <a:tailEnd type="none" w="med" len="med"/>
                    </a:lnT>
                    <a:lnB>
                      <a:noFill/>
                    </a:lnB>
                    <a:solidFill>
                      <a:srgbClr val="404040"/>
                    </a:solidFill>
                  </a:tcPr>
                </a:tc>
                <a:extLst>
                  <a:ext uri="{0D108BD9-81ED-4DB2-BD59-A6C34878D82A}">
                    <a16:rowId xmlns:a16="http://schemas.microsoft.com/office/drawing/2014/main" val="4243869252"/>
                  </a:ext>
                </a:extLst>
              </a:tr>
              <a:tr h="883271">
                <a:tc>
                  <a:txBody>
                    <a:bodyPr/>
                    <a:lstStyle/>
                    <a:p>
                      <a:pPr algn="l" fontAlgn="ctr">
                        <a:buNone/>
                      </a:pPr>
                      <a:r>
                        <a:rPr lang="en-AU" sz="1100" b="0" i="0" u="none" strike="noStrike">
                          <a:solidFill>
                            <a:srgbClr val="FFFFFF"/>
                          </a:solidFill>
                          <a:effectLst/>
                          <a:latin typeface="Aptos" panose="020B0004020202020204" pitchFamily="34" charset="0"/>
                        </a:rPr>
                        <a:t>Transaction Throughput (TT)</a:t>
                      </a:r>
                    </a:p>
                  </a:txBody>
                  <a:tcPr marL="75271" marR="8363" marT="8363" marB="0" anchor="ctr">
                    <a:lnL>
                      <a:noFill/>
                    </a:lnL>
                    <a:lnR>
                      <a:noFill/>
                    </a:lnR>
                    <a:lnT>
                      <a:noFill/>
                    </a:lnT>
                    <a:lnB>
                      <a:noFill/>
                    </a:lnB>
                    <a:solidFill>
                      <a:srgbClr val="737373"/>
                    </a:solidFill>
                  </a:tcPr>
                </a:tc>
                <a:tc>
                  <a:txBody>
                    <a:bodyPr/>
                    <a:lstStyle/>
                    <a:p>
                      <a:pPr algn="l" fontAlgn="ctr">
                        <a:buNone/>
                      </a:pPr>
                      <a:r>
                        <a:rPr lang="en-AU" sz="1100" b="0" i="0" u="none" strike="noStrike">
                          <a:solidFill>
                            <a:srgbClr val="FFFFFF"/>
                          </a:solidFill>
                          <a:effectLst/>
                          <a:latin typeface="Aptos" panose="020B0004020202020204" pitchFamily="34" charset="0"/>
                        </a:rPr>
                        <a:t> 5/s</a:t>
                      </a:r>
                    </a:p>
                  </a:txBody>
                  <a:tcPr marL="75271" marR="8363" marT="8363" marB="0" anchor="ctr">
                    <a:lnL>
                      <a:noFill/>
                    </a:lnL>
                    <a:lnR>
                      <a:noFill/>
                    </a:lnR>
                    <a:lnT>
                      <a:noFill/>
                    </a:lnT>
                    <a:lnB>
                      <a:noFill/>
                    </a:lnB>
                    <a:solidFill>
                      <a:srgbClr val="737373"/>
                    </a:solidFill>
                  </a:tcPr>
                </a:tc>
                <a:tc>
                  <a:txBody>
                    <a:bodyPr/>
                    <a:lstStyle/>
                    <a:p>
                      <a:pPr algn="l" fontAlgn="ctr">
                        <a:buNone/>
                      </a:pPr>
                      <a:r>
                        <a:rPr lang="en-GB" sz="1100" b="0" i="0" u="none" strike="noStrike">
                          <a:solidFill>
                            <a:srgbClr val="FFFFFF"/>
                          </a:solidFill>
                          <a:effectLst/>
                          <a:latin typeface="Aptos" panose="020B0004020202020204" pitchFamily="34" charset="0"/>
                        </a:rPr>
                        <a:t>Measures on-chain write speed. Total time in seconds from the start of the first transaction submission to the confirmation of the last. The TT is then calculated as the total number of successfully confirmed transactions divided by this total time.</a:t>
                      </a:r>
                    </a:p>
                  </a:txBody>
                  <a:tcPr marL="75271" marR="8363" marT="8363" marB="0" anchor="ctr">
                    <a:lnL>
                      <a:noFill/>
                    </a:lnL>
                    <a:lnR>
                      <a:noFill/>
                    </a:lnR>
                    <a:lnT>
                      <a:noFill/>
                    </a:lnT>
                    <a:lnB>
                      <a:noFill/>
                    </a:lnB>
                    <a:solidFill>
                      <a:srgbClr val="737373"/>
                    </a:solidFill>
                  </a:tcPr>
                </a:tc>
                <a:extLst>
                  <a:ext uri="{0D108BD9-81ED-4DB2-BD59-A6C34878D82A}">
                    <a16:rowId xmlns:a16="http://schemas.microsoft.com/office/drawing/2014/main" val="3073056413"/>
                  </a:ext>
                </a:extLst>
              </a:tr>
              <a:tr h="1029269">
                <a:tc>
                  <a:txBody>
                    <a:bodyPr/>
                    <a:lstStyle/>
                    <a:p>
                      <a:pPr algn="l" fontAlgn="ctr">
                        <a:buNone/>
                      </a:pPr>
                      <a:r>
                        <a:rPr lang="en-AU" sz="1100" b="0" i="0" u="none" strike="noStrike">
                          <a:solidFill>
                            <a:srgbClr val="FFFFFF"/>
                          </a:solidFill>
                          <a:effectLst/>
                          <a:latin typeface="Aptos" panose="020B0004020202020204" pitchFamily="34" charset="0"/>
                        </a:rPr>
                        <a:t>Verification Latency (VL)</a:t>
                      </a:r>
                    </a:p>
                  </a:txBody>
                  <a:tcPr marL="75271" marR="8363" marT="8363" marB="0" anchor="ctr">
                    <a:lnL>
                      <a:noFill/>
                    </a:lnL>
                    <a:lnR>
                      <a:noFill/>
                    </a:lnR>
                    <a:lnT>
                      <a:noFill/>
                    </a:lnT>
                    <a:lnB>
                      <a:noFill/>
                    </a:lnB>
                    <a:solidFill>
                      <a:srgbClr val="404040"/>
                    </a:solidFill>
                  </a:tcPr>
                </a:tc>
                <a:tc>
                  <a:txBody>
                    <a:bodyPr/>
                    <a:lstStyle/>
                    <a:p>
                      <a:pPr algn="l" fontAlgn="ctr">
                        <a:buNone/>
                      </a:pPr>
                      <a:r>
                        <a:rPr lang="en-AU" sz="1100" b="0" i="0" u="none" strike="noStrike">
                          <a:solidFill>
                            <a:srgbClr val="FFFFFF"/>
                          </a:solidFill>
                          <a:effectLst/>
                          <a:latin typeface="Aptos" panose="020B0004020202020204" pitchFamily="34" charset="0"/>
                        </a:rPr>
                        <a:t>3.2 ms</a:t>
                      </a:r>
                    </a:p>
                  </a:txBody>
                  <a:tcPr marL="75271" marR="8363" marT="8363" marB="0" anchor="ctr">
                    <a:lnL>
                      <a:noFill/>
                    </a:lnL>
                    <a:lnR>
                      <a:noFill/>
                    </a:lnR>
                    <a:lnT>
                      <a:noFill/>
                    </a:lnT>
                    <a:lnB>
                      <a:noFill/>
                    </a:lnB>
                    <a:solidFill>
                      <a:srgbClr val="404040"/>
                    </a:solidFill>
                  </a:tcPr>
                </a:tc>
                <a:tc>
                  <a:txBody>
                    <a:bodyPr/>
                    <a:lstStyle/>
                    <a:p>
                      <a:pPr algn="l" fontAlgn="ctr">
                        <a:buNone/>
                      </a:pPr>
                      <a:r>
                        <a:rPr lang="en-GB" sz="1100" b="0" i="0" u="none" strike="noStrike">
                          <a:solidFill>
                            <a:srgbClr val="FFFFFF"/>
                          </a:solidFill>
                          <a:effectLst/>
                          <a:latin typeface="Aptos" panose="020B0004020202020204" pitchFamily="34" charset="0"/>
                        </a:rPr>
                        <a:t>Measures off-chain trust speed. During the verification phase of each run,the time tkaen is recorded for every single signature check in milliseconds. The VL for that run is the statistical average (mean) of all these individual time measurements. A lower VL indicates that agents can verify and trust data more quickly.</a:t>
                      </a:r>
                    </a:p>
                  </a:txBody>
                  <a:tcPr marL="75271" marR="8363" marT="8363" marB="0" anchor="ctr">
                    <a:lnL>
                      <a:noFill/>
                    </a:lnL>
                    <a:lnR>
                      <a:noFill/>
                    </a:lnR>
                    <a:lnT>
                      <a:noFill/>
                    </a:lnT>
                    <a:lnB>
                      <a:noFill/>
                    </a:lnB>
                    <a:solidFill>
                      <a:srgbClr val="404040"/>
                    </a:solidFill>
                  </a:tcPr>
                </a:tc>
                <a:extLst>
                  <a:ext uri="{0D108BD9-81ED-4DB2-BD59-A6C34878D82A}">
                    <a16:rowId xmlns:a16="http://schemas.microsoft.com/office/drawing/2014/main" val="280125758"/>
                  </a:ext>
                </a:extLst>
              </a:tr>
              <a:tr h="1321265">
                <a:tc>
                  <a:txBody>
                    <a:bodyPr/>
                    <a:lstStyle/>
                    <a:p>
                      <a:pPr algn="l" fontAlgn="ctr">
                        <a:buNone/>
                      </a:pPr>
                      <a:r>
                        <a:rPr lang="en-AU" sz="1100" b="0" i="0" u="none" strike="noStrike" dirty="0">
                          <a:solidFill>
                            <a:srgbClr val="FFFFFF"/>
                          </a:solidFill>
                          <a:effectLst/>
                          <a:latin typeface="Aptos" panose="020B0004020202020204" pitchFamily="34" charset="0"/>
                        </a:rPr>
                        <a:t>Average Gas Cost  (</a:t>
                      </a:r>
                      <a:r>
                        <a:rPr lang="en-AU" sz="1100" b="0" i="0" u="none" strike="noStrike" dirty="0" err="1">
                          <a:solidFill>
                            <a:srgbClr val="FFFFFF"/>
                          </a:solidFill>
                          <a:effectLst/>
                          <a:latin typeface="Aptos" panose="020B0004020202020204" pitchFamily="34" charset="0"/>
                        </a:rPr>
                        <a:t>AvgGas</a:t>
                      </a:r>
                      <a:r>
                        <a:rPr lang="en-AU" sz="1100" b="0" i="0" u="none" strike="noStrike" dirty="0">
                          <a:solidFill>
                            <a:srgbClr val="FFFFFF"/>
                          </a:solidFill>
                          <a:effectLst/>
                          <a:latin typeface="Aptos" panose="020B0004020202020204" pitchFamily="34" charset="0"/>
                        </a:rPr>
                        <a:t>)</a:t>
                      </a:r>
                    </a:p>
                  </a:txBody>
                  <a:tcPr marL="75271" marR="8363" marT="8363" marB="0" anchor="ctr">
                    <a:lnL>
                      <a:noFill/>
                    </a:lnL>
                    <a:lnR>
                      <a:noFill/>
                    </a:lnR>
                    <a:lnT>
                      <a:noFill/>
                    </a:lnT>
                    <a:lnB>
                      <a:noFill/>
                    </a:lnB>
                    <a:solidFill>
                      <a:srgbClr val="737373"/>
                    </a:solidFill>
                  </a:tcPr>
                </a:tc>
                <a:tc>
                  <a:txBody>
                    <a:bodyPr/>
                    <a:lstStyle/>
                    <a:p>
                      <a:pPr algn="l" fontAlgn="ctr">
                        <a:buNone/>
                      </a:pPr>
                      <a:r>
                        <a:rPr lang="en-AU" sz="1100" b="0" i="0" u="none" strike="noStrike">
                          <a:solidFill>
                            <a:srgbClr val="FFFFFF"/>
                          </a:solidFill>
                          <a:effectLst/>
                          <a:latin typeface="Aptos" panose="020B0004020202020204" pitchFamily="34" charset="0"/>
                        </a:rPr>
                        <a:t>41,400</a:t>
                      </a:r>
                    </a:p>
                  </a:txBody>
                  <a:tcPr marL="75271" marR="8363" marT="8363" marB="0" anchor="ctr">
                    <a:lnL>
                      <a:noFill/>
                    </a:lnL>
                    <a:lnR>
                      <a:noFill/>
                    </a:lnR>
                    <a:lnT>
                      <a:noFill/>
                    </a:lnT>
                    <a:lnB>
                      <a:noFill/>
                    </a:lnB>
                    <a:solidFill>
                      <a:srgbClr val="737373"/>
                    </a:solidFill>
                  </a:tcPr>
                </a:tc>
                <a:tc>
                  <a:txBody>
                    <a:bodyPr/>
                    <a:lstStyle/>
                    <a:p>
                      <a:pPr algn="l" fontAlgn="ctr">
                        <a:buNone/>
                      </a:pPr>
                      <a:r>
                        <a:rPr lang="en-GB" sz="1100" b="0" i="0" u="none" strike="noStrike" dirty="0">
                          <a:solidFill>
                            <a:srgbClr val="FFFFFF"/>
                          </a:solidFill>
                          <a:effectLst/>
                          <a:latin typeface="Aptos" panose="020B0004020202020204" pitchFamily="34" charset="0"/>
                        </a:rPr>
                        <a:t>Assesses the economic viability. Every time a transaction is successfully confirmed, the blockchain returns a receipt containing the exact amount of computational work, or 'gas,' that was used. This </a:t>
                      </a:r>
                      <a:r>
                        <a:rPr lang="en-GB" sz="1100" b="0" i="0" u="none" strike="noStrike" dirty="0" err="1">
                          <a:solidFill>
                            <a:srgbClr val="FFFFFF"/>
                          </a:solidFill>
                          <a:effectLst/>
                          <a:latin typeface="Aptos" panose="020B0004020202020204" pitchFamily="34" charset="0"/>
                        </a:rPr>
                        <a:t>gasUsed</a:t>
                      </a:r>
                      <a:r>
                        <a:rPr lang="en-GB" sz="1100" b="0" i="0" u="none" strike="noStrike" dirty="0">
                          <a:solidFill>
                            <a:srgbClr val="FFFFFF"/>
                          </a:solidFill>
                          <a:effectLst/>
                          <a:latin typeface="Aptos" panose="020B0004020202020204" pitchFamily="34" charset="0"/>
                        </a:rPr>
                        <a:t> value was collected for every transaction in a run. The final metric is the average of all those individual gas values, giving a stable measure of the computational cost to store a single memory entry.</a:t>
                      </a:r>
                    </a:p>
                  </a:txBody>
                  <a:tcPr marL="75271" marR="8363" marT="8363" marB="0" anchor="ctr">
                    <a:lnL>
                      <a:noFill/>
                    </a:lnL>
                    <a:lnR>
                      <a:noFill/>
                    </a:lnR>
                    <a:lnT>
                      <a:noFill/>
                    </a:lnT>
                    <a:lnB>
                      <a:noFill/>
                    </a:lnB>
                    <a:solidFill>
                      <a:srgbClr val="737373"/>
                    </a:solidFill>
                  </a:tcPr>
                </a:tc>
                <a:extLst>
                  <a:ext uri="{0D108BD9-81ED-4DB2-BD59-A6C34878D82A}">
                    <a16:rowId xmlns:a16="http://schemas.microsoft.com/office/drawing/2014/main" val="3796703841"/>
                  </a:ext>
                </a:extLst>
              </a:tr>
            </a:tbl>
          </a:graphicData>
        </a:graphic>
      </p:graphicFrame>
      <p:sp>
        <p:nvSpPr>
          <p:cNvPr id="6" name="Content Placeholder 2">
            <a:extLst>
              <a:ext uri="{FF2B5EF4-FFF2-40B4-BE49-F238E27FC236}">
                <a16:creationId xmlns:a16="http://schemas.microsoft.com/office/drawing/2014/main" id="{5483BF94-8B9D-B1E5-4138-565DC40922CA}"/>
              </a:ext>
            </a:extLst>
          </p:cNvPr>
          <p:cNvSpPr txBox="1">
            <a:spLocks/>
          </p:cNvSpPr>
          <p:nvPr/>
        </p:nvSpPr>
        <p:spPr>
          <a:xfrm>
            <a:off x="5329137" y="1827104"/>
            <a:ext cx="2530812" cy="2235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200" kern="100" dirty="0">
                <a:latin typeface="Aptos" panose="020B0004020202020204" pitchFamily="34" charset="0"/>
                <a:cs typeface="Times New Roman" panose="02020603050405020304" pitchFamily="18" charset="0"/>
              </a:rPr>
              <a:t>Table 3: Key Metrics</a:t>
            </a:r>
          </a:p>
          <a:p>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p:txBody>
      </p:sp>
    </p:spTree>
    <p:extLst>
      <p:ext uri="{BB962C8B-B14F-4D97-AF65-F5344CB8AC3E}">
        <p14:creationId xmlns:p14="http://schemas.microsoft.com/office/powerpoint/2010/main" val="236887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70406-2596-C988-1630-34C0AFCCED8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8DA79E6-82A8-9D70-36F8-EA649474B1A8}"/>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Methodology – Simulation Design</a:t>
            </a:r>
            <a:endParaRPr lang="en-AU" dirty="0"/>
          </a:p>
        </p:txBody>
      </p:sp>
      <p:sp>
        <p:nvSpPr>
          <p:cNvPr id="2" name="Content Placeholder 2">
            <a:extLst>
              <a:ext uri="{FF2B5EF4-FFF2-40B4-BE49-F238E27FC236}">
                <a16:creationId xmlns:a16="http://schemas.microsoft.com/office/drawing/2014/main" id="{BD07D193-9DB3-6545-F188-C97CC93323BC}"/>
              </a:ext>
            </a:extLst>
          </p:cNvPr>
          <p:cNvSpPr txBox="1">
            <a:spLocks/>
          </p:cNvSpPr>
          <p:nvPr/>
        </p:nvSpPr>
        <p:spPr>
          <a:xfrm>
            <a:off x="838200" y="1350661"/>
            <a:ext cx="8758474" cy="4470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kern="100" dirty="0">
                <a:latin typeface="Aptos" panose="020B0004020202020204" pitchFamily="34" charset="0"/>
                <a:ea typeface="Aptos" panose="020B0004020202020204" pitchFamily="34" charset="0"/>
                <a:cs typeface="Times New Roman" panose="02020603050405020304" pitchFamily="18" charset="0"/>
              </a:rPr>
              <a:t>GitHub: </a:t>
            </a:r>
            <a:r>
              <a:rPr lang="en-GB" sz="2100" kern="100" dirty="0">
                <a:solidFill>
                  <a:srgbClr val="00B0F0"/>
                </a:solidFill>
                <a:latin typeface="Aptos" panose="020B0004020202020204" pitchFamily="34" charset="0"/>
                <a:ea typeface="Aptos" panose="020B0004020202020204" pitchFamily="34" charset="0"/>
                <a:cs typeface="Times New Roman" panose="02020603050405020304" pitchFamily="18" charset="0"/>
              </a:rPr>
              <a:t>https://github.com/jimy-r/RM8502---Research-Project-</a:t>
            </a:r>
            <a:endParaRPr lang="en-AU" sz="2100" kern="100" dirty="0">
              <a:solidFill>
                <a:srgbClr val="00B0F0"/>
              </a:solidFill>
              <a:effectLst/>
              <a:latin typeface="Aptos" panose="020B0004020202020204" pitchFamily="34" charset="0"/>
              <a:ea typeface="Aptos" panose="020B0004020202020204" pitchFamily="34" charset="0"/>
              <a:cs typeface="Times New Roman" panose="02020603050405020304" pitchFamily="18" charset="0"/>
            </a:endParaRPr>
          </a:p>
          <a:p>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a:p>
            <a:pPr lvl="1"/>
            <a:endParaRPr lang="en-GB" sz="1700" dirty="0"/>
          </a:p>
        </p:txBody>
      </p:sp>
      <p:graphicFrame>
        <p:nvGraphicFramePr>
          <p:cNvPr id="5" name="Table 4">
            <a:extLst>
              <a:ext uri="{FF2B5EF4-FFF2-40B4-BE49-F238E27FC236}">
                <a16:creationId xmlns:a16="http://schemas.microsoft.com/office/drawing/2014/main" id="{0735EBB7-280A-6851-EA26-DFA95D3BA808}"/>
              </a:ext>
            </a:extLst>
          </p:cNvPr>
          <p:cNvGraphicFramePr>
            <a:graphicFrameLocks noGrp="1"/>
          </p:cNvGraphicFramePr>
          <p:nvPr>
            <p:extLst>
              <p:ext uri="{D42A27DB-BD31-4B8C-83A1-F6EECF244321}">
                <p14:modId xmlns:p14="http://schemas.microsoft.com/office/powerpoint/2010/main" val="1740807802"/>
              </p:ext>
            </p:extLst>
          </p:nvPr>
        </p:nvGraphicFramePr>
        <p:xfrm>
          <a:off x="5048656" y="2265696"/>
          <a:ext cx="7003916" cy="4396940"/>
        </p:xfrm>
        <a:graphic>
          <a:graphicData uri="http://schemas.openxmlformats.org/drawingml/2006/table">
            <a:tbl>
              <a:tblPr/>
              <a:tblGrid>
                <a:gridCol w="2090454">
                  <a:extLst>
                    <a:ext uri="{9D8B030D-6E8A-4147-A177-3AD203B41FA5}">
                      <a16:colId xmlns:a16="http://schemas.microsoft.com/office/drawing/2014/main" val="1283170311"/>
                    </a:ext>
                  </a:extLst>
                </a:gridCol>
                <a:gridCol w="1983252">
                  <a:extLst>
                    <a:ext uri="{9D8B030D-6E8A-4147-A177-3AD203B41FA5}">
                      <a16:colId xmlns:a16="http://schemas.microsoft.com/office/drawing/2014/main" val="223035380"/>
                    </a:ext>
                  </a:extLst>
                </a:gridCol>
                <a:gridCol w="2930210">
                  <a:extLst>
                    <a:ext uri="{9D8B030D-6E8A-4147-A177-3AD203B41FA5}">
                      <a16:colId xmlns:a16="http://schemas.microsoft.com/office/drawing/2014/main" val="2657508951"/>
                    </a:ext>
                  </a:extLst>
                </a:gridCol>
              </a:tblGrid>
              <a:tr h="225209">
                <a:tc>
                  <a:txBody>
                    <a:bodyPr/>
                    <a:lstStyle/>
                    <a:p>
                      <a:pPr algn="l" fontAlgn="ctr">
                        <a:buNone/>
                      </a:pPr>
                      <a:r>
                        <a:rPr lang="en-AU" sz="1200" b="1" i="0" u="none" strike="noStrike">
                          <a:solidFill>
                            <a:srgbClr val="FFFFFF"/>
                          </a:solidFill>
                          <a:effectLst/>
                          <a:latin typeface="Aptos" panose="020B0004020202020204" pitchFamily="34" charset="0"/>
                        </a:rPr>
                        <a:t>Layer</a:t>
                      </a:r>
                    </a:p>
                  </a:txBody>
                  <a:tcPr marL="85725" marR="9525" marT="9525" marB="0" anchor="ctr">
                    <a:lnL>
                      <a:noFill/>
                    </a:lnL>
                    <a:lnR>
                      <a:noFill/>
                    </a:lnR>
                    <a:lnT>
                      <a:noFill/>
                    </a:lnT>
                    <a:lnB w="12700" cap="flat" cmpd="sng" algn="ctr">
                      <a:solidFill>
                        <a:srgbClr val="FFFFFF"/>
                      </a:solidFill>
                      <a:prstDash val="solid"/>
                      <a:round/>
                      <a:headEnd type="none" w="med" len="med"/>
                      <a:tailEnd type="none" w="med" len="med"/>
                    </a:lnB>
                    <a:solidFill>
                      <a:srgbClr val="000000"/>
                    </a:solidFill>
                  </a:tcPr>
                </a:tc>
                <a:tc>
                  <a:txBody>
                    <a:bodyPr/>
                    <a:lstStyle/>
                    <a:p>
                      <a:pPr algn="l" fontAlgn="ctr">
                        <a:buNone/>
                      </a:pPr>
                      <a:r>
                        <a:rPr lang="en-AU" sz="1200" b="1" i="0" u="none" strike="noStrike" dirty="0">
                          <a:solidFill>
                            <a:srgbClr val="FFFFFF"/>
                          </a:solidFill>
                          <a:effectLst/>
                          <a:latin typeface="Aptos" panose="020B0004020202020204" pitchFamily="34" charset="0"/>
                        </a:rPr>
                        <a:t>Choice</a:t>
                      </a:r>
                    </a:p>
                  </a:txBody>
                  <a:tcPr marL="85725" marR="9525" marT="9525" marB="0" anchor="ctr">
                    <a:lnL>
                      <a:noFill/>
                    </a:lnL>
                    <a:lnR>
                      <a:noFill/>
                    </a:lnR>
                    <a:lnT>
                      <a:noFill/>
                    </a:lnT>
                    <a:lnB w="12700" cap="flat" cmpd="sng" algn="ctr">
                      <a:solidFill>
                        <a:srgbClr val="FFFFFF"/>
                      </a:solidFill>
                      <a:prstDash val="solid"/>
                      <a:round/>
                      <a:headEnd type="none" w="med" len="med"/>
                      <a:tailEnd type="none" w="med" len="med"/>
                    </a:lnB>
                    <a:solidFill>
                      <a:srgbClr val="000000"/>
                    </a:solidFill>
                  </a:tcPr>
                </a:tc>
                <a:tc>
                  <a:txBody>
                    <a:bodyPr/>
                    <a:lstStyle/>
                    <a:p>
                      <a:pPr algn="l" fontAlgn="ctr">
                        <a:buNone/>
                      </a:pPr>
                      <a:r>
                        <a:rPr lang="en-AU" sz="1200" b="1" i="0" u="none" strike="noStrike">
                          <a:solidFill>
                            <a:srgbClr val="FFFFFF"/>
                          </a:solidFill>
                          <a:effectLst/>
                          <a:latin typeface="Aptos" panose="020B0004020202020204" pitchFamily="34" charset="0"/>
                        </a:rPr>
                        <a:t>Rationale</a:t>
                      </a:r>
                    </a:p>
                  </a:txBody>
                  <a:tcPr marL="85725" marR="9525" marT="9525" marB="0" anchor="ctr">
                    <a:lnL>
                      <a:noFill/>
                    </a:lnL>
                    <a:lnR>
                      <a:noFill/>
                    </a:lnR>
                    <a:lnT>
                      <a:noFill/>
                    </a:lnT>
                    <a:lnB w="127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3272877339"/>
                  </a:ext>
                </a:extLst>
              </a:tr>
              <a:tr h="628441">
                <a:tc>
                  <a:txBody>
                    <a:bodyPr/>
                    <a:lstStyle/>
                    <a:p>
                      <a:pPr algn="l" fontAlgn="ctr">
                        <a:buNone/>
                      </a:pPr>
                      <a:r>
                        <a:rPr lang="en-AU" sz="1200" b="0" i="0" u="none" strike="noStrike">
                          <a:solidFill>
                            <a:srgbClr val="FFFFFF"/>
                          </a:solidFill>
                          <a:effectLst/>
                          <a:latin typeface="Aptos" panose="020B0004020202020204" pitchFamily="34" charset="0"/>
                        </a:rPr>
                        <a:t>Agent Runtime</a:t>
                      </a:r>
                    </a:p>
                  </a:txBody>
                  <a:tcPr marL="85725" marR="9525" marT="9525" marB="0" anchor="ctr">
                    <a:lnL>
                      <a:noFill/>
                    </a:lnL>
                    <a:lnR>
                      <a:noFill/>
                    </a:lnR>
                    <a:lnT w="12700" cap="flat" cmpd="sng" algn="ctr">
                      <a:solidFill>
                        <a:srgbClr val="FFFFFF"/>
                      </a:solidFill>
                      <a:prstDash val="solid"/>
                      <a:round/>
                      <a:headEnd type="none" w="med" len="med"/>
                      <a:tailEnd type="none" w="med" len="med"/>
                    </a:lnT>
                    <a:lnB>
                      <a:noFill/>
                    </a:lnB>
                    <a:solidFill>
                      <a:srgbClr val="404040"/>
                    </a:solidFill>
                  </a:tcPr>
                </a:tc>
                <a:tc>
                  <a:txBody>
                    <a:bodyPr/>
                    <a:lstStyle/>
                    <a:p>
                      <a:pPr algn="l" fontAlgn="ctr">
                        <a:buNone/>
                      </a:pPr>
                      <a:r>
                        <a:rPr lang="en-AU" sz="1200" b="0" i="0" u="none" strike="noStrike" dirty="0">
                          <a:solidFill>
                            <a:srgbClr val="FFFFFF"/>
                          </a:solidFill>
                          <a:effectLst/>
                          <a:latin typeface="Aptos" panose="020B0004020202020204" pitchFamily="34" charset="0"/>
                        </a:rPr>
                        <a:t>Python </a:t>
                      </a:r>
                      <a:r>
                        <a:rPr lang="en-AU" sz="1200" b="0" i="0" u="none" strike="noStrike" dirty="0" err="1">
                          <a:solidFill>
                            <a:srgbClr val="FFFFFF"/>
                          </a:solidFill>
                          <a:effectLst/>
                          <a:latin typeface="Aptos" panose="020B0004020202020204" pitchFamily="34" charset="0"/>
                        </a:rPr>
                        <a:t>asyncio</a:t>
                      </a:r>
                      <a:endParaRPr lang="en-AU" sz="1200" b="0" i="0" u="none" strike="noStrike" dirty="0">
                        <a:solidFill>
                          <a:srgbClr val="FFFFFF"/>
                        </a:solidFill>
                        <a:effectLst/>
                        <a:latin typeface="Aptos" panose="020B0004020202020204" pitchFamily="34" charset="0"/>
                      </a:endParaRPr>
                    </a:p>
                  </a:txBody>
                  <a:tcPr marL="85725" marR="9525" marT="9525" marB="0" anchor="ctr">
                    <a:lnL>
                      <a:noFill/>
                    </a:lnL>
                    <a:lnR>
                      <a:noFill/>
                    </a:lnR>
                    <a:lnT w="12700" cap="flat" cmpd="sng" algn="ctr">
                      <a:solidFill>
                        <a:srgbClr val="FFFFFF"/>
                      </a:solidFill>
                      <a:prstDash val="solid"/>
                      <a:round/>
                      <a:headEnd type="none" w="med" len="med"/>
                      <a:tailEnd type="none" w="med" len="med"/>
                    </a:lnT>
                    <a:lnB>
                      <a:noFill/>
                    </a:lnB>
                    <a:solidFill>
                      <a:srgbClr val="404040"/>
                    </a:solidFill>
                  </a:tcPr>
                </a:tc>
                <a:tc>
                  <a:txBody>
                    <a:bodyPr/>
                    <a:lstStyle/>
                    <a:p>
                      <a:pPr algn="l" fontAlgn="ctr">
                        <a:buNone/>
                      </a:pPr>
                      <a:r>
                        <a:rPr lang="en-GB" sz="1200" b="0" i="0" u="none" strike="noStrike">
                          <a:solidFill>
                            <a:srgbClr val="FFFFFF"/>
                          </a:solidFill>
                          <a:effectLst/>
                          <a:latin typeface="Aptos" panose="020B0004020202020204" pitchFamily="34" charset="0"/>
                        </a:rPr>
                        <a:t>Lightweight, good for I/O (interacting with ledger), easy wallet ops via Web3.py.</a:t>
                      </a:r>
                    </a:p>
                  </a:txBody>
                  <a:tcPr marL="85725" marR="9525" marT="9525" marB="0" anchor="ctr">
                    <a:lnL>
                      <a:noFill/>
                    </a:lnL>
                    <a:lnR>
                      <a:noFill/>
                    </a:lnR>
                    <a:lnT w="12700" cap="flat" cmpd="sng" algn="ctr">
                      <a:solidFill>
                        <a:srgbClr val="FFFFFF"/>
                      </a:solidFill>
                      <a:prstDash val="solid"/>
                      <a:round/>
                      <a:headEnd type="none" w="med" len="med"/>
                      <a:tailEnd type="none" w="med" len="med"/>
                    </a:lnT>
                    <a:lnB>
                      <a:noFill/>
                    </a:lnB>
                    <a:solidFill>
                      <a:srgbClr val="404040"/>
                    </a:solidFill>
                  </a:tcPr>
                </a:tc>
                <a:extLst>
                  <a:ext uri="{0D108BD9-81ED-4DB2-BD59-A6C34878D82A}">
                    <a16:rowId xmlns:a16="http://schemas.microsoft.com/office/drawing/2014/main" val="1226613372"/>
                  </a:ext>
                </a:extLst>
              </a:tr>
              <a:tr h="1040252">
                <a:tc>
                  <a:txBody>
                    <a:bodyPr/>
                    <a:lstStyle/>
                    <a:p>
                      <a:pPr algn="l" fontAlgn="ctr">
                        <a:buNone/>
                      </a:pPr>
                      <a:r>
                        <a:rPr lang="en-AU" sz="1200" b="0" i="0" u="none" strike="noStrike">
                          <a:solidFill>
                            <a:srgbClr val="FFFFFF"/>
                          </a:solidFill>
                          <a:effectLst/>
                          <a:latin typeface="Aptos" panose="020B0004020202020204" pitchFamily="34" charset="0"/>
                        </a:rPr>
                        <a:t>LLM Backbone</a:t>
                      </a:r>
                    </a:p>
                  </a:txBody>
                  <a:tcPr marL="85725" marR="9525" marT="9525" marB="0" anchor="ctr">
                    <a:lnL>
                      <a:noFill/>
                    </a:lnL>
                    <a:lnR>
                      <a:noFill/>
                    </a:lnR>
                    <a:lnT>
                      <a:noFill/>
                    </a:lnT>
                    <a:lnB>
                      <a:noFill/>
                    </a:lnB>
                    <a:solidFill>
                      <a:srgbClr val="737373"/>
                    </a:solidFill>
                  </a:tcPr>
                </a:tc>
                <a:tc>
                  <a:txBody>
                    <a:bodyPr/>
                    <a:lstStyle/>
                    <a:p>
                      <a:pPr algn="l" fontAlgn="ctr">
                        <a:buNone/>
                      </a:pPr>
                      <a:r>
                        <a:rPr lang="en-AU" sz="1200" b="0" i="0" u="none" strike="noStrike">
                          <a:solidFill>
                            <a:srgbClr val="FFFFFF"/>
                          </a:solidFill>
                          <a:effectLst/>
                          <a:latin typeface="Aptos" panose="020B0004020202020204" pitchFamily="34" charset="0"/>
                        </a:rPr>
                        <a:t>Stubbed / Minimal</a:t>
                      </a:r>
                    </a:p>
                  </a:txBody>
                  <a:tcPr marL="85725" marR="9525" marT="9525" marB="0" anchor="ctr">
                    <a:lnL>
                      <a:noFill/>
                    </a:lnL>
                    <a:lnR>
                      <a:noFill/>
                    </a:lnR>
                    <a:lnT>
                      <a:noFill/>
                    </a:lnT>
                    <a:lnB>
                      <a:noFill/>
                    </a:lnB>
                    <a:solidFill>
                      <a:srgbClr val="737373"/>
                    </a:solidFill>
                  </a:tcPr>
                </a:tc>
                <a:tc>
                  <a:txBody>
                    <a:bodyPr/>
                    <a:lstStyle/>
                    <a:p>
                      <a:pPr algn="l" fontAlgn="ctr">
                        <a:buNone/>
                      </a:pPr>
                      <a:r>
                        <a:rPr lang="en-GB" sz="1200" b="0" i="0" u="none" strike="noStrike">
                          <a:solidFill>
                            <a:srgbClr val="FFFFFF"/>
                          </a:solidFill>
                          <a:effectLst/>
                          <a:latin typeface="Aptos" panose="020B0004020202020204" pitchFamily="34" charset="0"/>
                        </a:rPr>
                        <a:t>Core focus is on ledger architecture &amp; trust, not complex agent reasoning. LLM integration was out of scope for this project. </a:t>
                      </a:r>
                    </a:p>
                  </a:txBody>
                  <a:tcPr marL="85725" marR="9525" marT="9525" marB="0" anchor="ctr">
                    <a:lnL>
                      <a:noFill/>
                    </a:lnL>
                    <a:lnR>
                      <a:noFill/>
                    </a:lnR>
                    <a:lnT>
                      <a:noFill/>
                    </a:lnT>
                    <a:lnB>
                      <a:noFill/>
                    </a:lnB>
                    <a:solidFill>
                      <a:srgbClr val="737373"/>
                    </a:solidFill>
                  </a:tcPr>
                </a:tc>
                <a:extLst>
                  <a:ext uri="{0D108BD9-81ED-4DB2-BD59-A6C34878D82A}">
                    <a16:rowId xmlns:a16="http://schemas.microsoft.com/office/drawing/2014/main" val="1994915675"/>
                  </a:ext>
                </a:extLst>
              </a:tr>
              <a:tr h="834346">
                <a:tc>
                  <a:txBody>
                    <a:bodyPr/>
                    <a:lstStyle/>
                    <a:p>
                      <a:pPr algn="l" fontAlgn="ctr">
                        <a:buNone/>
                      </a:pPr>
                      <a:r>
                        <a:rPr lang="en-AU" sz="1200" b="0" i="0" u="none" strike="noStrike" dirty="0">
                          <a:solidFill>
                            <a:srgbClr val="FFFFFF"/>
                          </a:solidFill>
                          <a:effectLst/>
                          <a:latin typeface="Aptos" panose="020B0004020202020204" pitchFamily="34" charset="0"/>
                        </a:rPr>
                        <a:t>Ledger</a:t>
                      </a:r>
                    </a:p>
                  </a:txBody>
                  <a:tcPr marL="85725" marR="9525" marT="9525" marB="0" anchor="ctr">
                    <a:lnL>
                      <a:noFill/>
                    </a:lnL>
                    <a:lnR>
                      <a:noFill/>
                    </a:lnR>
                    <a:lnT>
                      <a:noFill/>
                    </a:lnT>
                    <a:lnB>
                      <a:noFill/>
                    </a:lnB>
                    <a:solidFill>
                      <a:srgbClr val="404040"/>
                    </a:solidFill>
                  </a:tcPr>
                </a:tc>
                <a:tc>
                  <a:txBody>
                    <a:bodyPr/>
                    <a:lstStyle/>
                    <a:p>
                      <a:pPr algn="l" fontAlgn="ctr">
                        <a:buNone/>
                      </a:pPr>
                      <a:r>
                        <a:rPr lang="en-AU" sz="1200" b="0" i="0" u="none" strike="noStrike">
                          <a:solidFill>
                            <a:srgbClr val="FFFFFF"/>
                          </a:solidFill>
                          <a:effectLst/>
                          <a:latin typeface="Aptos" panose="020B0004020202020204" pitchFamily="34" charset="0"/>
                        </a:rPr>
                        <a:t>Anvil fork of OP Stack (private devnet)</a:t>
                      </a:r>
                    </a:p>
                  </a:txBody>
                  <a:tcPr marL="85725" marR="9525" marT="9525" marB="0" anchor="ctr">
                    <a:lnL>
                      <a:noFill/>
                    </a:lnL>
                    <a:lnR>
                      <a:noFill/>
                    </a:lnR>
                    <a:lnT>
                      <a:noFill/>
                    </a:lnT>
                    <a:lnB>
                      <a:noFill/>
                    </a:lnB>
                    <a:solidFill>
                      <a:srgbClr val="404040"/>
                    </a:solidFill>
                  </a:tcPr>
                </a:tc>
                <a:tc>
                  <a:txBody>
                    <a:bodyPr/>
                    <a:lstStyle/>
                    <a:p>
                      <a:pPr algn="l" fontAlgn="ctr">
                        <a:buNone/>
                      </a:pPr>
                      <a:r>
                        <a:rPr lang="en-GB" sz="1200" b="0" i="0" u="none" strike="noStrike">
                          <a:solidFill>
                            <a:srgbClr val="FFFFFF"/>
                          </a:solidFill>
                          <a:effectLst/>
                          <a:latin typeface="Aptos" panose="020B0004020202020204" pitchFamily="34" charset="0"/>
                        </a:rPr>
                        <a:t>Full EVM control for design/simulation; allowed easy deployment/testing of smart contracts.</a:t>
                      </a:r>
                    </a:p>
                  </a:txBody>
                  <a:tcPr marL="85725" marR="9525" marT="9525" marB="0" anchor="ctr">
                    <a:lnL>
                      <a:noFill/>
                    </a:lnL>
                    <a:lnR>
                      <a:noFill/>
                    </a:lnR>
                    <a:lnT>
                      <a:noFill/>
                    </a:lnT>
                    <a:lnB>
                      <a:noFill/>
                    </a:lnB>
                    <a:solidFill>
                      <a:srgbClr val="404040"/>
                    </a:solidFill>
                  </a:tcPr>
                </a:tc>
                <a:extLst>
                  <a:ext uri="{0D108BD9-81ED-4DB2-BD59-A6C34878D82A}">
                    <a16:rowId xmlns:a16="http://schemas.microsoft.com/office/drawing/2014/main" val="1047026122"/>
                  </a:ext>
                </a:extLst>
              </a:tr>
              <a:tr h="834346">
                <a:tc>
                  <a:txBody>
                    <a:bodyPr/>
                    <a:lstStyle/>
                    <a:p>
                      <a:pPr algn="l" fontAlgn="ctr">
                        <a:buNone/>
                      </a:pPr>
                      <a:r>
                        <a:rPr lang="en-AU" sz="1200" b="0" i="0" u="none" strike="noStrike">
                          <a:solidFill>
                            <a:srgbClr val="FFFFFF"/>
                          </a:solidFill>
                          <a:effectLst/>
                          <a:latin typeface="Aptos" panose="020B0004020202020204" pitchFamily="34" charset="0"/>
                        </a:rPr>
                        <a:t>Smart Contracts</a:t>
                      </a:r>
                    </a:p>
                  </a:txBody>
                  <a:tcPr marL="85725" marR="9525" marT="9525" marB="0" anchor="ctr">
                    <a:lnL>
                      <a:noFill/>
                    </a:lnL>
                    <a:lnR>
                      <a:noFill/>
                    </a:lnR>
                    <a:lnT>
                      <a:noFill/>
                    </a:lnT>
                    <a:lnB>
                      <a:noFill/>
                    </a:lnB>
                    <a:solidFill>
                      <a:srgbClr val="737373"/>
                    </a:solidFill>
                  </a:tcPr>
                </a:tc>
                <a:tc>
                  <a:txBody>
                    <a:bodyPr/>
                    <a:lstStyle/>
                    <a:p>
                      <a:pPr algn="l" fontAlgn="ctr">
                        <a:buNone/>
                      </a:pPr>
                      <a:r>
                        <a:rPr lang="en-GB" sz="1200" b="0" i="0" u="none" strike="noStrike">
                          <a:solidFill>
                            <a:srgbClr val="FFFFFF"/>
                          </a:solidFill>
                          <a:effectLst/>
                          <a:latin typeface="Aptos" panose="020B0004020202020204" pitchFamily="34" charset="0"/>
                        </a:rPr>
                        <a:t>Solidity 0.8.x (if contract-based state management is chosen for entries)</a:t>
                      </a:r>
                    </a:p>
                  </a:txBody>
                  <a:tcPr marL="85725" marR="9525" marT="9525" marB="0" anchor="ctr">
                    <a:lnL>
                      <a:noFill/>
                    </a:lnL>
                    <a:lnR>
                      <a:noFill/>
                    </a:lnR>
                    <a:lnT>
                      <a:noFill/>
                    </a:lnT>
                    <a:lnB>
                      <a:noFill/>
                    </a:lnB>
                    <a:solidFill>
                      <a:srgbClr val="737373"/>
                    </a:solidFill>
                  </a:tcPr>
                </a:tc>
                <a:tc>
                  <a:txBody>
                    <a:bodyPr/>
                    <a:lstStyle/>
                    <a:p>
                      <a:pPr algn="l" fontAlgn="ctr">
                        <a:buNone/>
                      </a:pPr>
                      <a:r>
                        <a:rPr lang="en-GB" sz="1200" b="0" i="0" u="none" strike="noStrike">
                          <a:solidFill>
                            <a:srgbClr val="FFFFFF"/>
                          </a:solidFill>
                          <a:effectLst/>
                          <a:latin typeface="Aptos" panose="020B0004020202020204" pitchFamily="34" charset="0"/>
                        </a:rPr>
                        <a:t>Standard for EVM; used to define on-chain protocol logic for addSignedEntry, verifyEntrySignature. </a:t>
                      </a:r>
                    </a:p>
                  </a:txBody>
                  <a:tcPr marL="85725" marR="9525" marT="9525" marB="0" anchor="ctr">
                    <a:lnL>
                      <a:noFill/>
                    </a:lnL>
                    <a:lnR>
                      <a:noFill/>
                    </a:lnR>
                    <a:lnT>
                      <a:noFill/>
                    </a:lnT>
                    <a:lnB>
                      <a:noFill/>
                    </a:lnB>
                    <a:solidFill>
                      <a:srgbClr val="737373"/>
                    </a:solidFill>
                  </a:tcPr>
                </a:tc>
                <a:extLst>
                  <a:ext uri="{0D108BD9-81ED-4DB2-BD59-A6C34878D82A}">
                    <a16:rowId xmlns:a16="http://schemas.microsoft.com/office/drawing/2014/main" val="1095314169"/>
                  </a:ext>
                </a:extLst>
              </a:tr>
              <a:tr h="834346">
                <a:tc>
                  <a:txBody>
                    <a:bodyPr/>
                    <a:lstStyle/>
                    <a:p>
                      <a:pPr algn="l" fontAlgn="ctr">
                        <a:buNone/>
                      </a:pPr>
                      <a:r>
                        <a:rPr lang="en-AU" sz="1200" b="0" i="0" u="none" strike="noStrike">
                          <a:solidFill>
                            <a:srgbClr val="FFFFFF"/>
                          </a:solidFill>
                          <a:effectLst/>
                          <a:latin typeface="Aptos" panose="020B0004020202020204" pitchFamily="34" charset="0"/>
                        </a:rPr>
                        <a:t>Cryptography</a:t>
                      </a:r>
                    </a:p>
                  </a:txBody>
                  <a:tcPr marL="85725" marR="9525" marT="9525" marB="0" anchor="ctr">
                    <a:lnL>
                      <a:noFill/>
                    </a:lnL>
                    <a:lnR>
                      <a:noFill/>
                    </a:lnR>
                    <a:lnT>
                      <a:noFill/>
                    </a:lnT>
                    <a:lnB>
                      <a:noFill/>
                    </a:lnB>
                    <a:solidFill>
                      <a:srgbClr val="404040"/>
                    </a:solidFill>
                  </a:tcPr>
                </a:tc>
                <a:tc>
                  <a:txBody>
                    <a:bodyPr/>
                    <a:lstStyle/>
                    <a:p>
                      <a:pPr algn="l" fontAlgn="ctr">
                        <a:buNone/>
                      </a:pPr>
                      <a:r>
                        <a:rPr lang="en-AU" sz="1200" b="0" i="0" u="none" strike="noStrike">
                          <a:solidFill>
                            <a:srgbClr val="FFFFFF"/>
                          </a:solidFill>
                          <a:effectLst/>
                          <a:latin typeface="Aptos" panose="020B0004020202020204" pitchFamily="34" charset="0"/>
                        </a:rPr>
                        <a:t>Standard libraries (e.g., Python's hashlib, ecdsa via web3.py)</a:t>
                      </a:r>
                    </a:p>
                  </a:txBody>
                  <a:tcPr marL="85725" marR="9525" marT="9525" marB="0" anchor="ctr">
                    <a:lnL>
                      <a:noFill/>
                    </a:lnL>
                    <a:lnR>
                      <a:noFill/>
                    </a:lnR>
                    <a:lnT>
                      <a:noFill/>
                    </a:lnT>
                    <a:lnB>
                      <a:noFill/>
                    </a:lnB>
                    <a:solidFill>
                      <a:srgbClr val="404040"/>
                    </a:solidFill>
                  </a:tcPr>
                </a:tc>
                <a:tc>
                  <a:txBody>
                    <a:bodyPr/>
                    <a:lstStyle/>
                    <a:p>
                      <a:pPr algn="l" fontAlgn="ctr">
                        <a:buNone/>
                      </a:pPr>
                      <a:r>
                        <a:rPr lang="en-GB" sz="1200" b="0" i="0" u="none" strike="noStrike" dirty="0">
                          <a:solidFill>
                            <a:srgbClr val="FFFFFF"/>
                          </a:solidFill>
                          <a:effectLst/>
                          <a:latin typeface="Aptos" panose="020B0004020202020204" pitchFamily="34" charset="0"/>
                        </a:rPr>
                        <a:t>For signing/verifying agent transactions/entries. Required for provenance. </a:t>
                      </a:r>
                    </a:p>
                  </a:txBody>
                  <a:tcPr marL="85725" marR="9525" marT="9525" marB="0" anchor="ctr">
                    <a:lnL>
                      <a:noFill/>
                    </a:lnL>
                    <a:lnR>
                      <a:noFill/>
                    </a:lnR>
                    <a:lnT>
                      <a:noFill/>
                    </a:lnT>
                    <a:lnB>
                      <a:noFill/>
                    </a:lnB>
                    <a:solidFill>
                      <a:srgbClr val="404040"/>
                    </a:solidFill>
                  </a:tcPr>
                </a:tc>
                <a:extLst>
                  <a:ext uri="{0D108BD9-81ED-4DB2-BD59-A6C34878D82A}">
                    <a16:rowId xmlns:a16="http://schemas.microsoft.com/office/drawing/2014/main" val="1799054716"/>
                  </a:ext>
                </a:extLst>
              </a:tr>
            </a:tbl>
          </a:graphicData>
        </a:graphic>
      </p:graphicFrame>
      <p:sp>
        <p:nvSpPr>
          <p:cNvPr id="6" name="Content Placeholder 2">
            <a:extLst>
              <a:ext uri="{FF2B5EF4-FFF2-40B4-BE49-F238E27FC236}">
                <a16:creationId xmlns:a16="http://schemas.microsoft.com/office/drawing/2014/main" id="{22DC417C-CDEE-17E7-2102-A8B0A0668ED1}"/>
              </a:ext>
            </a:extLst>
          </p:cNvPr>
          <p:cNvSpPr txBox="1">
            <a:spLocks/>
          </p:cNvSpPr>
          <p:nvPr/>
        </p:nvSpPr>
        <p:spPr>
          <a:xfrm>
            <a:off x="4951379" y="2012139"/>
            <a:ext cx="2530812" cy="2235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200" kern="100" dirty="0">
                <a:latin typeface="Aptos" panose="020B0004020202020204" pitchFamily="34" charset="0"/>
                <a:cs typeface="Times New Roman" panose="02020603050405020304" pitchFamily="18" charset="0"/>
              </a:rPr>
              <a:t>Table 4: System Components</a:t>
            </a:r>
          </a:p>
          <a:p>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p:txBody>
      </p:sp>
      <p:sp>
        <p:nvSpPr>
          <p:cNvPr id="10" name="Content Placeholder 2">
            <a:extLst>
              <a:ext uri="{FF2B5EF4-FFF2-40B4-BE49-F238E27FC236}">
                <a16:creationId xmlns:a16="http://schemas.microsoft.com/office/drawing/2014/main" id="{8CFACA1E-B909-58AA-D804-523821240F70}"/>
              </a:ext>
            </a:extLst>
          </p:cNvPr>
          <p:cNvSpPr txBox="1">
            <a:spLocks/>
          </p:cNvSpPr>
          <p:nvPr/>
        </p:nvSpPr>
        <p:spPr>
          <a:xfrm>
            <a:off x="251893" y="2012139"/>
            <a:ext cx="2530812" cy="2235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200" kern="100" dirty="0">
                <a:latin typeface="Aptos" panose="020B0004020202020204" pitchFamily="34" charset="0"/>
                <a:cs typeface="Times New Roman" panose="02020603050405020304" pitchFamily="18" charset="0"/>
              </a:rPr>
              <a:t>Figure 1: Simulation Design</a:t>
            </a:r>
          </a:p>
          <a:p>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p:txBody>
      </p:sp>
      <p:pic>
        <p:nvPicPr>
          <p:cNvPr id="16" name="Picture 15">
            <a:extLst>
              <a:ext uri="{FF2B5EF4-FFF2-40B4-BE49-F238E27FC236}">
                <a16:creationId xmlns:a16="http://schemas.microsoft.com/office/drawing/2014/main" id="{8C3280AB-A07F-A683-8781-84F9F5B11F46}"/>
              </a:ext>
            </a:extLst>
          </p:cNvPr>
          <p:cNvPicPr>
            <a:picLocks noChangeAspect="1"/>
          </p:cNvPicPr>
          <p:nvPr/>
        </p:nvPicPr>
        <p:blipFill>
          <a:blip r:embed="rId2"/>
          <a:stretch>
            <a:fillRect/>
          </a:stretch>
        </p:blipFill>
        <p:spPr>
          <a:xfrm>
            <a:off x="291398" y="2289587"/>
            <a:ext cx="4287556" cy="2278826"/>
          </a:xfrm>
          <a:prstGeom prst="rect">
            <a:avLst/>
          </a:prstGeom>
        </p:spPr>
      </p:pic>
    </p:spTree>
    <p:extLst>
      <p:ext uri="{BB962C8B-B14F-4D97-AF65-F5344CB8AC3E}">
        <p14:creationId xmlns:p14="http://schemas.microsoft.com/office/powerpoint/2010/main" val="204190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30275-8E14-2E0F-B4DA-6057E503D4B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8A03EAD-915B-A4DA-C364-2AB45DEABD5D}"/>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Methodology – Experimental Design</a:t>
            </a:r>
            <a:endParaRPr lang="en-AU" dirty="0"/>
          </a:p>
        </p:txBody>
      </p:sp>
      <p:sp>
        <p:nvSpPr>
          <p:cNvPr id="2" name="Content Placeholder 2">
            <a:extLst>
              <a:ext uri="{FF2B5EF4-FFF2-40B4-BE49-F238E27FC236}">
                <a16:creationId xmlns:a16="http://schemas.microsoft.com/office/drawing/2014/main" id="{139F8331-0CAD-60EC-9C0A-CDDBA513BCD3}"/>
              </a:ext>
            </a:extLst>
          </p:cNvPr>
          <p:cNvSpPr txBox="1">
            <a:spLocks/>
          </p:cNvSpPr>
          <p:nvPr/>
        </p:nvSpPr>
        <p:spPr>
          <a:xfrm>
            <a:off x="838200" y="1350661"/>
            <a:ext cx="8758474" cy="4470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kern="100" dirty="0">
                <a:effectLst/>
                <a:latin typeface="Aptos" panose="020B0004020202020204" pitchFamily="34" charset="0"/>
                <a:ea typeface="Aptos" panose="020B0004020202020204" pitchFamily="34" charset="0"/>
                <a:cs typeface="Times New Roman" panose="02020603050405020304" pitchFamily="18" charset="0"/>
              </a:rPr>
              <a:t>Test Parameters:</a:t>
            </a:r>
          </a:p>
          <a:p>
            <a:pPr lvl="1"/>
            <a:r>
              <a:rPr lang="en-GB" sz="1700" kern="100" dirty="0">
                <a:latin typeface="Aptos" panose="020B0004020202020204" pitchFamily="34" charset="0"/>
                <a:ea typeface="Aptos" panose="020B0004020202020204" pitchFamily="34" charset="0"/>
                <a:cs typeface="Times New Roman" panose="02020603050405020304" pitchFamily="18" charset="0"/>
              </a:rPr>
              <a:t>Independent Simulation Runs (T) = 10 Runs</a:t>
            </a:r>
          </a:p>
          <a:p>
            <a:pPr lvl="1"/>
            <a:r>
              <a:rPr lang="en-GB" sz="1700" kern="100" dirty="0">
                <a:latin typeface="Aptos" panose="020B0004020202020204" pitchFamily="34" charset="0"/>
                <a:ea typeface="Aptos" panose="020B0004020202020204" pitchFamily="34" charset="0"/>
                <a:cs typeface="Times New Roman" panose="02020603050405020304" pitchFamily="18" charset="0"/>
              </a:rPr>
              <a:t>Number of Transactions per Run (N) = 50 Transactions</a:t>
            </a:r>
            <a:r>
              <a:rPr lang="en-GB" sz="2100" kern="100" dirty="0">
                <a:effectLst/>
                <a:latin typeface="Aptos" panose="020B0004020202020204" pitchFamily="34" charset="0"/>
                <a:ea typeface="Aptos" panose="020B0004020202020204" pitchFamily="34" charset="0"/>
                <a:cs typeface="Times New Roman" panose="02020603050405020304" pitchFamily="18" charset="0"/>
              </a:rPr>
              <a:t>	</a:t>
            </a:r>
          </a:p>
          <a:p>
            <a:r>
              <a:rPr lang="en-GB" sz="2100" kern="100" dirty="0">
                <a:effectLst/>
                <a:latin typeface="Aptos" panose="020B0004020202020204" pitchFamily="34" charset="0"/>
                <a:ea typeface="Aptos" panose="020B0004020202020204" pitchFamily="34" charset="0"/>
                <a:cs typeface="Times New Roman" panose="02020603050405020304" pitchFamily="18" charset="0"/>
              </a:rPr>
              <a:t>Final Parameters: </a:t>
            </a:r>
          </a:p>
          <a:p>
            <a:pPr lvl="1"/>
            <a:r>
              <a:rPr lang="en-GB" sz="1700" kern="100" dirty="0">
                <a:latin typeface="Aptos" panose="020B0004020202020204" pitchFamily="34" charset="0"/>
                <a:ea typeface="Aptos" panose="020B0004020202020204" pitchFamily="34" charset="0"/>
                <a:cs typeface="Times New Roman" panose="02020603050405020304" pitchFamily="18" charset="0"/>
              </a:rPr>
              <a:t>Independent Simulation Runs (T) = 30 Runs</a:t>
            </a:r>
          </a:p>
          <a:p>
            <a:pPr lvl="1"/>
            <a:r>
              <a:rPr lang="en-GB" sz="1700" kern="100" dirty="0">
                <a:effectLst/>
                <a:latin typeface="Aptos" panose="020B0004020202020204" pitchFamily="34" charset="0"/>
                <a:ea typeface="Aptos" panose="020B0004020202020204" pitchFamily="34" charset="0"/>
                <a:cs typeface="Times New Roman" panose="02020603050405020304" pitchFamily="18" charset="0"/>
              </a:rPr>
              <a:t>Number of Transactions per Run (N) = 500 Transactions</a:t>
            </a:r>
          </a:p>
          <a:p>
            <a:r>
              <a:rPr lang="en-GB" sz="2100" kern="100" dirty="0">
                <a:latin typeface="Aptos" panose="020B0004020202020204" pitchFamily="34" charset="0"/>
                <a:ea typeface="Aptos" panose="020B0004020202020204" pitchFamily="34" charset="0"/>
                <a:cs typeface="Times New Roman" panose="02020603050405020304" pitchFamily="18" charset="0"/>
              </a:rPr>
              <a:t>Independent Variable: Payload Size </a:t>
            </a:r>
          </a:p>
          <a:p>
            <a:pPr lvl="1"/>
            <a:r>
              <a:rPr lang="en-GB" sz="1700" kern="100" dirty="0">
                <a:latin typeface="Aptos" panose="020B0004020202020204" pitchFamily="34" charset="0"/>
                <a:ea typeface="Aptos" panose="020B0004020202020204" pitchFamily="34" charset="0"/>
                <a:cs typeface="Times New Roman" panose="02020603050405020304" pitchFamily="18" charset="0"/>
              </a:rPr>
              <a:t>Small: A short fact about the environment (90 bytes)</a:t>
            </a:r>
          </a:p>
          <a:p>
            <a:pPr lvl="1"/>
            <a:r>
              <a:rPr lang="en-GB" sz="1700" kern="100" dirty="0">
                <a:latin typeface="Aptos" panose="020B0004020202020204" pitchFamily="34" charset="0"/>
                <a:ea typeface="Aptos" panose="020B0004020202020204" pitchFamily="34" charset="0"/>
                <a:cs typeface="Times New Roman" panose="02020603050405020304" pitchFamily="18" charset="0"/>
              </a:rPr>
              <a:t>Medium: A specific observation or detail of an agent’s current state (190 bytes)</a:t>
            </a:r>
          </a:p>
          <a:p>
            <a:pPr lvl="1"/>
            <a:r>
              <a:rPr lang="en-GB" sz="1700" kern="100" dirty="0">
                <a:latin typeface="Aptos" panose="020B0004020202020204" pitchFamily="34" charset="0"/>
                <a:ea typeface="Aptos" panose="020B0004020202020204" pitchFamily="34" charset="0"/>
                <a:cs typeface="Times New Roman" panose="02020603050405020304" pitchFamily="18" charset="0"/>
              </a:rPr>
              <a:t>Large: A complex event sequence or detail with significant context (350 bytes) </a:t>
            </a:r>
          </a:p>
          <a:p>
            <a:r>
              <a:rPr lang="en-GB" sz="2100" kern="100" dirty="0">
                <a:effectLst/>
                <a:latin typeface="Aptos" panose="020B0004020202020204" pitchFamily="34" charset="0"/>
                <a:ea typeface="Aptos" panose="020B0004020202020204" pitchFamily="34" charset="0"/>
                <a:cs typeface="Times New Roman" panose="02020603050405020304" pitchFamily="18" charset="0"/>
              </a:rPr>
              <a:t>Total Workload: </a:t>
            </a:r>
            <a:r>
              <a:rPr lang="en-GB" sz="2100" kern="100" dirty="0">
                <a:latin typeface="Aptos" panose="020B0004020202020204" pitchFamily="34" charset="0"/>
                <a:ea typeface="Aptos" panose="020B0004020202020204" pitchFamily="34" charset="0"/>
                <a:cs typeface="Times New Roman" panose="02020603050405020304" pitchFamily="18" charset="0"/>
              </a:rPr>
              <a:t>45,000 Transactions</a:t>
            </a:r>
          </a:p>
          <a:p>
            <a:r>
              <a:rPr lang="en-GB" sz="2100" dirty="0"/>
              <a:t>Ethical approvals were not required.</a:t>
            </a:r>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a:p>
            <a:pPr lvl="1"/>
            <a:endParaRPr lang="en-GB" sz="1700" dirty="0"/>
          </a:p>
        </p:txBody>
      </p:sp>
    </p:spTree>
    <p:extLst>
      <p:ext uri="{BB962C8B-B14F-4D97-AF65-F5344CB8AC3E}">
        <p14:creationId xmlns:p14="http://schemas.microsoft.com/office/powerpoint/2010/main" val="2863793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F7687-6ED2-07C9-E43A-A8CF7EA1173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F313887-24F1-3138-B23C-538412CA194E}"/>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Methodology – Data Collection &amp; Analysis</a:t>
            </a:r>
            <a:endParaRPr lang="en-AU" dirty="0"/>
          </a:p>
        </p:txBody>
      </p:sp>
      <p:sp>
        <p:nvSpPr>
          <p:cNvPr id="2" name="Content Placeholder 2">
            <a:extLst>
              <a:ext uri="{FF2B5EF4-FFF2-40B4-BE49-F238E27FC236}">
                <a16:creationId xmlns:a16="http://schemas.microsoft.com/office/drawing/2014/main" id="{BD135C5F-B7C6-6493-E63D-98A19E0834FF}"/>
              </a:ext>
            </a:extLst>
          </p:cNvPr>
          <p:cNvSpPr txBox="1">
            <a:spLocks/>
          </p:cNvSpPr>
          <p:nvPr/>
        </p:nvSpPr>
        <p:spPr>
          <a:xfrm>
            <a:off x="838200" y="1350661"/>
            <a:ext cx="8758474" cy="4470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kern="100" dirty="0">
                <a:latin typeface="Aptos" panose="020B0004020202020204" pitchFamily="34" charset="0"/>
                <a:ea typeface="Aptos" panose="020B0004020202020204" pitchFamily="34" charset="0"/>
                <a:cs typeface="Times New Roman" panose="02020603050405020304" pitchFamily="18" charset="0"/>
              </a:rPr>
              <a:t>Automated Analysis: </a:t>
            </a:r>
            <a:r>
              <a:rPr lang="en-GB" sz="2100" kern="100" dirty="0">
                <a:latin typeface="Aptos" panose="020B0004020202020204" pitchFamily="34" charset="0"/>
                <a:cs typeface="Times New Roman" panose="02020603050405020304" pitchFamily="18" charset="0"/>
              </a:rPr>
              <a:t>Simulation script was designed to perform a complete, automated analysis immediately following the data collection phase</a:t>
            </a:r>
          </a:p>
          <a:p>
            <a:r>
              <a:rPr lang="en-GB" sz="2100" kern="100" dirty="0">
                <a:latin typeface="Aptos" panose="020B0004020202020204" pitchFamily="34" charset="0"/>
                <a:ea typeface="Aptos" panose="020B0004020202020204" pitchFamily="34" charset="0"/>
                <a:cs typeface="Times New Roman" panose="02020603050405020304" pitchFamily="18" charset="0"/>
              </a:rPr>
              <a:t>Quantitative Outputs: </a:t>
            </a:r>
            <a:r>
              <a:rPr lang="en-GB" sz="2100" kern="100" dirty="0">
                <a:latin typeface="Aptos" panose="020B0004020202020204" pitchFamily="34" charset="0"/>
                <a:cs typeface="Times New Roman" panose="02020603050405020304" pitchFamily="18" charset="0"/>
              </a:rPr>
              <a:t>Descriptive statistics (mean, std), 95% confidence intervals, and hypothesis test results printed directly to the console for real-time monitoring and captured in a final experimental log.</a:t>
            </a:r>
            <a:endParaRPr lang="en-GB" sz="2100" kern="100" dirty="0">
              <a:latin typeface="Aptos" panose="020B0004020202020204" pitchFamily="34" charset="0"/>
              <a:ea typeface="Aptos" panose="020B0004020202020204" pitchFamily="34" charset="0"/>
              <a:cs typeface="Times New Roman" panose="02020603050405020304" pitchFamily="18" charset="0"/>
            </a:endParaRPr>
          </a:p>
          <a:p>
            <a:r>
              <a:rPr lang="en-GB" sz="2100" kern="100" dirty="0">
                <a:latin typeface="Aptos" panose="020B0004020202020204" pitchFamily="34" charset="0"/>
                <a:cs typeface="Times New Roman" panose="02020603050405020304" pitchFamily="18" charset="0"/>
              </a:rPr>
              <a:t>Visual Outputs: Per-payload boxplots, latency histograms, and the final comparative plots outputted to command line.</a:t>
            </a:r>
            <a:endParaRPr lang="en-AU" sz="2100" kern="100" dirty="0">
              <a:latin typeface="Aptos" panose="020B0004020202020204" pitchFamily="34" charset="0"/>
              <a:cs typeface="Times New Roman" panose="02020603050405020304" pitchFamily="18" charset="0"/>
            </a:endParaRPr>
          </a:p>
          <a:p>
            <a:endParaRPr lang="en-GB" sz="2100" kern="100" dirty="0">
              <a:latin typeface="Aptos" panose="020B0004020202020204" pitchFamily="34" charset="0"/>
              <a:cs typeface="Times New Roman" panose="02020603050405020304" pitchFamily="18" charset="0"/>
            </a:endParaRPr>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a:p>
            <a:pPr lvl="1"/>
            <a:endParaRPr lang="en-GB" sz="1700" dirty="0"/>
          </a:p>
        </p:txBody>
      </p:sp>
    </p:spTree>
    <p:extLst>
      <p:ext uri="{BB962C8B-B14F-4D97-AF65-F5344CB8AC3E}">
        <p14:creationId xmlns:p14="http://schemas.microsoft.com/office/powerpoint/2010/main" val="3965124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B09FD-5C19-08AF-CE42-E7F0145A24E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C7203A0-1383-5C06-B589-2DB1ABE1616D}"/>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Results - Flawless Provenance </a:t>
            </a:r>
            <a:endParaRPr lang="en-AU" dirty="0"/>
          </a:p>
        </p:txBody>
      </p:sp>
      <p:sp>
        <p:nvSpPr>
          <p:cNvPr id="8" name="Content Placeholder 2">
            <a:extLst>
              <a:ext uri="{FF2B5EF4-FFF2-40B4-BE49-F238E27FC236}">
                <a16:creationId xmlns:a16="http://schemas.microsoft.com/office/drawing/2014/main" id="{E73FDFA3-F67C-9D48-DD66-ECC2F7D8622D}"/>
              </a:ext>
            </a:extLst>
          </p:cNvPr>
          <p:cNvSpPr txBox="1">
            <a:spLocks/>
          </p:cNvSpPr>
          <p:nvPr/>
        </p:nvSpPr>
        <p:spPr>
          <a:xfrm>
            <a:off x="838200" y="1350661"/>
            <a:ext cx="8758474" cy="4470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dirty="0"/>
              <a:t>Provenance Verification Accuracy (PVA): 100% Accuracy</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a:p>
            <a:pPr lvl="1"/>
            <a:endParaRPr lang="en-GB" sz="1700" dirty="0"/>
          </a:p>
        </p:txBody>
      </p:sp>
      <p:pic>
        <p:nvPicPr>
          <p:cNvPr id="6" name="Picture 5" descr="A screenshot of a graph&#10;&#10;AI-generated content may be incorrect.">
            <a:extLst>
              <a:ext uri="{FF2B5EF4-FFF2-40B4-BE49-F238E27FC236}">
                <a16:creationId xmlns:a16="http://schemas.microsoft.com/office/drawing/2014/main" id="{88DA619A-F23B-D6F0-622E-0DD8752339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3680" y="2064373"/>
            <a:ext cx="6664640" cy="4443093"/>
          </a:xfrm>
          <a:prstGeom prst="rect">
            <a:avLst/>
          </a:prstGeom>
        </p:spPr>
      </p:pic>
      <p:sp>
        <p:nvSpPr>
          <p:cNvPr id="2" name="Content Placeholder 2">
            <a:extLst>
              <a:ext uri="{FF2B5EF4-FFF2-40B4-BE49-F238E27FC236}">
                <a16:creationId xmlns:a16="http://schemas.microsoft.com/office/drawing/2014/main" id="{80CA04C1-FE26-8292-D32D-2B142D2EA3FB}"/>
              </a:ext>
            </a:extLst>
          </p:cNvPr>
          <p:cNvSpPr txBox="1">
            <a:spLocks/>
          </p:cNvSpPr>
          <p:nvPr/>
        </p:nvSpPr>
        <p:spPr>
          <a:xfrm>
            <a:off x="2686625" y="1797711"/>
            <a:ext cx="3558532" cy="19646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200" kern="100" dirty="0">
                <a:latin typeface="Aptos" panose="020B0004020202020204" pitchFamily="34" charset="0"/>
                <a:cs typeface="Times New Roman" panose="02020603050405020304" pitchFamily="18" charset="0"/>
              </a:rPr>
              <a:t>Figure 2: Distribution of Metrics (Medium Payload)</a:t>
            </a:r>
          </a:p>
          <a:p>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p:txBody>
      </p:sp>
    </p:spTree>
    <p:extLst>
      <p:ext uri="{BB962C8B-B14F-4D97-AF65-F5344CB8AC3E}">
        <p14:creationId xmlns:p14="http://schemas.microsoft.com/office/powerpoint/2010/main" val="2640960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70493-9772-AF26-35EE-D4391088204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4C18DDE-AFF9-0F00-7B15-AD375462002E}"/>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Results - Predictable Cost</a:t>
            </a:r>
          </a:p>
        </p:txBody>
      </p:sp>
      <p:sp>
        <p:nvSpPr>
          <p:cNvPr id="8" name="Content Placeholder 2">
            <a:extLst>
              <a:ext uri="{FF2B5EF4-FFF2-40B4-BE49-F238E27FC236}">
                <a16:creationId xmlns:a16="http://schemas.microsoft.com/office/drawing/2014/main" id="{BD364D22-96D7-833E-4A4C-249C54E38794}"/>
              </a:ext>
            </a:extLst>
          </p:cNvPr>
          <p:cNvSpPr txBox="1">
            <a:spLocks/>
          </p:cNvSpPr>
          <p:nvPr/>
        </p:nvSpPr>
        <p:spPr>
          <a:xfrm>
            <a:off x="838200" y="1350661"/>
            <a:ext cx="8758474" cy="4470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kern="100" dirty="0">
                <a:effectLst/>
                <a:latin typeface="Aptos" panose="020B0004020202020204" pitchFamily="34" charset="0"/>
                <a:ea typeface="Aptos" panose="020B0004020202020204" pitchFamily="34" charset="0"/>
                <a:cs typeface="Times New Roman" panose="02020603050405020304" pitchFamily="18" charset="0"/>
              </a:rPr>
              <a:t>Gas cost scaled linearly with the size of the data. </a:t>
            </a:r>
            <a:endParaRPr lang="en-AU" sz="21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a:p>
            <a:pPr lvl="1"/>
            <a:endParaRPr lang="en-GB" sz="1700" dirty="0"/>
          </a:p>
        </p:txBody>
      </p:sp>
      <p:pic>
        <p:nvPicPr>
          <p:cNvPr id="3" name="Picture 2" descr="A graph with text on it&#10;&#10;AI-generated content may be incorrect.">
            <a:extLst>
              <a:ext uri="{FF2B5EF4-FFF2-40B4-BE49-F238E27FC236}">
                <a16:creationId xmlns:a16="http://schemas.microsoft.com/office/drawing/2014/main" id="{CCA95E74-5D08-5A24-32D5-CE7BE7D741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6006" y="2178995"/>
            <a:ext cx="6712086" cy="4027252"/>
          </a:xfrm>
          <a:prstGeom prst="rect">
            <a:avLst/>
          </a:prstGeom>
        </p:spPr>
      </p:pic>
      <p:sp>
        <p:nvSpPr>
          <p:cNvPr id="4" name="Content Placeholder 2">
            <a:extLst>
              <a:ext uri="{FF2B5EF4-FFF2-40B4-BE49-F238E27FC236}">
                <a16:creationId xmlns:a16="http://schemas.microsoft.com/office/drawing/2014/main" id="{EAF216AA-B125-F86D-DC9B-C8B3BECD4454}"/>
              </a:ext>
            </a:extLst>
          </p:cNvPr>
          <p:cNvSpPr txBox="1">
            <a:spLocks/>
          </p:cNvSpPr>
          <p:nvPr/>
        </p:nvSpPr>
        <p:spPr>
          <a:xfrm>
            <a:off x="2536006" y="1890122"/>
            <a:ext cx="4039892" cy="21105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200" kern="100" dirty="0">
                <a:latin typeface="Aptos" panose="020B0004020202020204" pitchFamily="34" charset="0"/>
                <a:cs typeface="Times New Roman" panose="02020603050405020304" pitchFamily="18" charset="0"/>
              </a:rPr>
              <a:t>Figure 3: Comparative Analysis of Avg Gas by Payload Size</a:t>
            </a:r>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p:txBody>
      </p:sp>
    </p:spTree>
    <p:extLst>
      <p:ext uri="{BB962C8B-B14F-4D97-AF65-F5344CB8AC3E}">
        <p14:creationId xmlns:p14="http://schemas.microsoft.com/office/powerpoint/2010/main" val="4163628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F3179-1B0E-2879-59B5-18C2D24DDEA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5314AFD-08FC-B6A8-4F2B-12DE1411C81C}"/>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Results - Performance Trade-off</a:t>
            </a:r>
          </a:p>
        </p:txBody>
      </p:sp>
      <p:sp>
        <p:nvSpPr>
          <p:cNvPr id="8" name="Content Placeholder 2">
            <a:extLst>
              <a:ext uri="{FF2B5EF4-FFF2-40B4-BE49-F238E27FC236}">
                <a16:creationId xmlns:a16="http://schemas.microsoft.com/office/drawing/2014/main" id="{8A53E86D-7B41-D194-8D3E-979AC3386CFD}"/>
              </a:ext>
            </a:extLst>
          </p:cNvPr>
          <p:cNvSpPr txBox="1">
            <a:spLocks/>
          </p:cNvSpPr>
          <p:nvPr/>
        </p:nvSpPr>
        <p:spPr>
          <a:xfrm>
            <a:off x="838200" y="1350661"/>
            <a:ext cx="8758474" cy="4470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kern="100" dirty="0">
                <a:latin typeface="Aptos" panose="020B0004020202020204" pitchFamily="34" charset="0"/>
                <a:cs typeface="Times New Roman" panose="02020603050405020304" pitchFamily="18" charset="0"/>
              </a:rPr>
              <a:t>Transaction Throughput (TT): Decreasing throughput with larger payload size (avg. only 10-20 transactions per second).</a:t>
            </a:r>
          </a:p>
          <a:p>
            <a:r>
              <a:rPr lang="en-GB" sz="2100" kern="100" dirty="0">
                <a:latin typeface="Aptos" panose="020B0004020202020204" pitchFamily="34" charset="0"/>
                <a:cs typeface="Times New Roman" panose="02020603050405020304" pitchFamily="18" charset="0"/>
              </a:rPr>
              <a:t>Verification latency (VL): Extremely Fast &amp; Scalable (~2.8 </a:t>
            </a:r>
            <a:r>
              <a:rPr lang="en-GB" sz="2100" kern="100" dirty="0" err="1">
                <a:latin typeface="Aptos" panose="020B0004020202020204" pitchFamily="34" charset="0"/>
                <a:cs typeface="Times New Roman" panose="02020603050405020304" pitchFamily="18" charset="0"/>
              </a:rPr>
              <a:t>ms</a:t>
            </a:r>
            <a:r>
              <a:rPr lang="en-GB" sz="2100" kern="100" dirty="0">
                <a:latin typeface="Aptos" panose="020B0004020202020204" pitchFamily="34" charset="0"/>
                <a:cs typeface="Times New Roman" panose="02020603050405020304" pitchFamily="18" charset="0"/>
              </a:rPr>
              <a:t>)</a:t>
            </a:r>
          </a:p>
          <a:p>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a:p>
            <a:pPr lvl="1"/>
            <a:endParaRPr lang="en-GB" sz="1700" dirty="0"/>
          </a:p>
        </p:txBody>
      </p:sp>
      <p:pic>
        <p:nvPicPr>
          <p:cNvPr id="3" name="Picture 2" descr="A graph of a comparison of a number of boxes&#10;&#10;AI-generated content may be incorrect.">
            <a:extLst>
              <a:ext uri="{FF2B5EF4-FFF2-40B4-BE49-F238E27FC236}">
                <a16:creationId xmlns:a16="http://schemas.microsoft.com/office/drawing/2014/main" id="{202EE0C5-E284-1DD2-B8AC-2CE052244D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49" y="2872058"/>
            <a:ext cx="5074598" cy="3044758"/>
          </a:xfrm>
          <a:prstGeom prst="rect">
            <a:avLst/>
          </a:prstGeom>
        </p:spPr>
      </p:pic>
      <p:pic>
        <p:nvPicPr>
          <p:cNvPr id="4" name="Picture 3" descr="A graph with blue and black boxes&#10;&#10;AI-generated content may be incorrect.">
            <a:extLst>
              <a:ext uri="{FF2B5EF4-FFF2-40B4-BE49-F238E27FC236}">
                <a16:creationId xmlns:a16="http://schemas.microsoft.com/office/drawing/2014/main" id="{009C241F-5C07-D526-1934-10CB0E7C40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8103" y="2872057"/>
            <a:ext cx="5074598" cy="3044759"/>
          </a:xfrm>
          <a:prstGeom prst="rect">
            <a:avLst/>
          </a:prstGeom>
        </p:spPr>
      </p:pic>
      <p:sp>
        <p:nvSpPr>
          <p:cNvPr id="6" name="Content Placeholder 2">
            <a:extLst>
              <a:ext uri="{FF2B5EF4-FFF2-40B4-BE49-F238E27FC236}">
                <a16:creationId xmlns:a16="http://schemas.microsoft.com/office/drawing/2014/main" id="{E20E07F7-B32D-BB29-3E70-5F77FA25163C}"/>
              </a:ext>
            </a:extLst>
          </p:cNvPr>
          <p:cNvSpPr txBox="1">
            <a:spLocks/>
          </p:cNvSpPr>
          <p:nvPr/>
        </p:nvSpPr>
        <p:spPr>
          <a:xfrm>
            <a:off x="398831" y="2569585"/>
            <a:ext cx="4039892" cy="21105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200" kern="100" dirty="0">
                <a:latin typeface="Aptos" panose="020B0004020202020204" pitchFamily="34" charset="0"/>
                <a:cs typeface="Times New Roman" panose="02020603050405020304" pitchFamily="18" charset="0"/>
              </a:rPr>
              <a:t>Figure 4: Comparative Analysis of TT by Payload Size</a:t>
            </a:r>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p:txBody>
      </p:sp>
      <p:sp>
        <p:nvSpPr>
          <p:cNvPr id="9" name="Content Placeholder 2">
            <a:extLst>
              <a:ext uri="{FF2B5EF4-FFF2-40B4-BE49-F238E27FC236}">
                <a16:creationId xmlns:a16="http://schemas.microsoft.com/office/drawing/2014/main" id="{2273EC33-C465-7DEF-C0A7-82BD9C83F38F}"/>
              </a:ext>
            </a:extLst>
          </p:cNvPr>
          <p:cNvSpPr txBox="1">
            <a:spLocks/>
          </p:cNvSpPr>
          <p:nvPr/>
        </p:nvSpPr>
        <p:spPr>
          <a:xfrm>
            <a:off x="6290550" y="2569585"/>
            <a:ext cx="4039892" cy="21105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200" kern="100" dirty="0">
                <a:latin typeface="Aptos" panose="020B0004020202020204" pitchFamily="34" charset="0"/>
                <a:cs typeface="Times New Roman" panose="02020603050405020304" pitchFamily="18" charset="0"/>
              </a:rPr>
              <a:t>Figure 5: Comparative Analysis of VL by Payload Size</a:t>
            </a:r>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p:txBody>
      </p:sp>
    </p:spTree>
    <p:extLst>
      <p:ext uri="{BB962C8B-B14F-4D97-AF65-F5344CB8AC3E}">
        <p14:creationId xmlns:p14="http://schemas.microsoft.com/office/powerpoint/2010/main" val="773463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45672-99C1-57AD-9E71-B9D34CE1462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D841D7C-0C53-98D4-9529-C1C65AA9117E}"/>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Discussion</a:t>
            </a:r>
            <a:endParaRPr lang="en-AU" dirty="0"/>
          </a:p>
        </p:txBody>
      </p:sp>
      <p:sp>
        <p:nvSpPr>
          <p:cNvPr id="8" name="Content Placeholder 2">
            <a:extLst>
              <a:ext uri="{FF2B5EF4-FFF2-40B4-BE49-F238E27FC236}">
                <a16:creationId xmlns:a16="http://schemas.microsoft.com/office/drawing/2014/main" id="{B11F439A-8FDE-48E4-FFBE-2B25F4C43C25}"/>
              </a:ext>
            </a:extLst>
          </p:cNvPr>
          <p:cNvSpPr txBox="1">
            <a:spLocks/>
          </p:cNvSpPr>
          <p:nvPr/>
        </p:nvSpPr>
        <p:spPr>
          <a:xfrm>
            <a:off x="838200" y="1350661"/>
            <a:ext cx="8758474" cy="4470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dirty="0"/>
              <a:t>Flawless Provenance:</a:t>
            </a:r>
          </a:p>
          <a:p>
            <a:pPr lvl="1"/>
            <a:r>
              <a:rPr lang="en-GB" sz="1700" dirty="0"/>
              <a:t>Cryptographic architecture is reliable in the controlled environment (‘best-case’).</a:t>
            </a:r>
          </a:p>
          <a:p>
            <a:pPr lvl="1"/>
            <a:r>
              <a:rPr lang="en-GB" sz="1700" dirty="0"/>
              <a:t>Architecture proves </a:t>
            </a:r>
            <a:r>
              <a:rPr lang="en-GB" sz="1700" i="1" dirty="0"/>
              <a:t>who</a:t>
            </a:r>
            <a:r>
              <a:rPr lang="en-GB" sz="1700" dirty="0"/>
              <a:t> said </a:t>
            </a:r>
            <a:r>
              <a:rPr lang="en-GB" sz="1700" i="1" dirty="0"/>
              <a:t>what</a:t>
            </a:r>
            <a:r>
              <a:rPr lang="en-GB" sz="1700" dirty="0"/>
              <a:t>, no guarantee that what was said is </a:t>
            </a:r>
            <a:r>
              <a:rPr lang="en-GB" sz="1700" i="1" dirty="0"/>
              <a:t>true</a:t>
            </a:r>
            <a:r>
              <a:rPr lang="en-GB" sz="1700" dirty="0"/>
              <a:t>.</a:t>
            </a:r>
          </a:p>
          <a:p>
            <a:r>
              <a:rPr lang="en-GB" sz="2100" dirty="0"/>
              <a:t>Predictable Cost:</a:t>
            </a:r>
          </a:p>
          <a:p>
            <a:pPr lvl="1"/>
            <a:r>
              <a:rPr lang="en-GB" sz="1700" dirty="0"/>
              <a:t>Gas cost increased proportionally with the size of the data being stored.</a:t>
            </a:r>
          </a:p>
          <a:p>
            <a:pPr lvl="1"/>
            <a:r>
              <a:rPr lang="en-GB" sz="1700" dirty="0"/>
              <a:t>Deterministic cost-benefit analysis.</a:t>
            </a:r>
          </a:p>
          <a:p>
            <a:pPr lvl="1"/>
            <a:r>
              <a:rPr lang="en-GB" sz="1700" dirty="0"/>
              <a:t>Gas market does fluctuate on a live network.</a:t>
            </a:r>
          </a:p>
          <a:p>
            <a:r>
              <a:rPr lang="en-GB" sz="2100" dirty="0"/>
              <a:t>Performance Trade-off</a:t>
            </a:r>
          </a:p>
          <a:p>
            <a:pPr lvl="1"/>
            <a:r>
              <a:rPr lang="en-GB" sz="1700" dirty="0"/>
              <a:t>Clear on-chain bottleneck (10 – 20 transactions per second). </a:t>
            </a:r>
          </a:p>
          <a:p>
            <a:pPr lvl="1"/>
            <a:r>
              <a:rPr lang="en-GB" sz="1700" dirty="0"/>
              <a:t>Off-chain efficiency was excellent (under 3 milliseconds).</a:t>
            </a:r>
          </a:p>
          <a:p>
            <a:pPr lvl="1"/>
            <a:r>
              <a:rPr lang="en-GB" sz="1700" dirty="0"/>
              <a:t>Slow to write but fast to trust.</a:t>
            </a:r>
          </a:p>
          <a:p>
            <a:pPr lvl="1"/>
            <a:endParaRPr lang="en-GB" sz="1700" dirty="0"/>
          </a:p>
          <a:p>
            <a:endParaRPr lang="en-GB" sz="2100" dirty="0"/>
          </a:p>
          <a:p>
            <a:pPr lvl="1"/>
            <a:endParaRPr lang="en-GB" sz="1700" dirty="0"/>
          </a:p>
          <a:p>
            <a:pPr lvl="1"/>
            <a:endParaRPr lang="en-GB" sz="1700" dirty="0"/>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a:p>
            <a:pPr lvl="1"/>
            <a:endParaRPr lang="en-GB" sz="1700" dirty="0"/>
          </a:p>
        </p:txBody>
      </p:sp>
    </p:spTree>
    <p:extLst>
      <p:ext uri="{BB962C8B-B14F-4D97-AF65-F5344CB8AC3E}">
        <p14:creationId xmlns:p14="http://schemas.microsoft.com/office/powerpoint/2010/main" val="4158905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75500-2A72-A23C-893F-C94F3B989B6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8039C35-F35B-E278-16C9-B34956CEF720}"/>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Discussion cont.</a:t>
            </a:r>
            <a:endParaRPr lang="en-AU" dirty="0"/>
          </a:p>
        </p:txBody>
      </p:sp>
      <p:sp>
        <p:nvSpPr>
          <p:cNvPr id="8" name="Content Placeholder 2">
            <a:extLst>
              <a:ext uri="{FF2B5EF4-FFF2-40B4-BE49-F238E27FC236}">
                <a16:creationId xmlns:a16="http://schemas.microsoft.com/office/drawing/2014/main" id="{E64B513A-A386-BD1E-70BB-D5D48B8E4641}"/>
              </a:ext>
            </a:extLst>
          </p:cNvPr>
          <p:cNvSpPr txBox="1">
            <a:spLocks/>
          </p:cNvSpPr>
          <p:nvPr/>
        </p:nvSpPr>
        <p:spPr>
          <a:xfrm>
            <a:off x="838200" y="1350661"/>
            <a:ext cx="8758474" cy="4470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dirty="0"/>
              <a:t>Limitations: </a:t>
            </a:r>
          </a:p>
          <a:p>
            <a:pPr lvl="1"/>
            <a:r>
              <a:rPr lang="en-GB" sz="2100" dirty="0"/>
              <a:t>Local </a:t>
            </a:r>
            <a:r>
              <a:rPr lang="en-GB" sz="2100" dirty="0" err="1"/>
              <a:t>testnet</a:t>
            </a:r>
            <a:r>
              <a:rPr lang="en-GB" sz="2100" dirty="0"/>
              <a:t> environment</a:t>
            </a:r>
          </a:p>
          <a:p>
            <a:pPr lvl="1"/>
            <a:r>
              <a:rPr lang="en-GB" sz="2100" dirty="0"/>
              <a:t>Simple agent &amp; dummy data </a:t>
            </a:r>
          </a:p>
          <a:p>
            <a:pPr lvl="1"/>
            <a:r>
              <a:rPr lang="en-GB" sz="2100" dirty="0"/>
              <a:t>Focus on ‘Happy Path’: Did not test against adversarial attacks</a:t>
            </a:r>
          </a:p>
          <a:p>
            <a:pPr lvl="1"/>
            <a:endParaRPr lang="en-GB" sz="2100" dirty="0"/>
          </a:p>
          <a:p>
            <a:r>
              <a:rPr lang="en-GB" sz="2100" dirty="0"/>
              <a:t>Future: </a:t>
            </a:r>
          </a:p>
          <a:p>
            <a:pPr lvl="1"/>
            <a:r>
              <a:rPr lang="en-GB" sz="2100" dirty="0"/>
              <a:t>Deploy on both active Ethereum </a:t>
            </a:r>
            <a:r>
              <a:rPr lang="en-GB" sz="2100" dirty="0" err="1"/>
              <a:t>testnet</a:t>
            </a:r>
            <a:r>
              <a:rPr lang="en-GB" sz="2100" dirty="0"/>
              <a:t> and Layer 2 </a:t>
            </a:r>
            <a:r>
              <a:rPr lang="en-GB" sz="2100" dirty="0" err="1"/>
              <a:t>testnet</a:t>
            </a:r>
            <a:r>
              <a:rPr lang="en-GB" sz="2100" dirty="0"/>
              <a:t> like </a:t>
            </a:r>
            <a:r>
              <a:rPr lang="en-GB" sz="2100" dirty="0" err="1"/>
              <a:t>Arbitrum</a:t>
            </a:r>
            <a:r>
              <a:rPr lang="en-GB" sz="2100" dirty="0"/>
              <a:t> (</a:t>
            </a:r>
            <a:r>
              <a:rPr lang="en-GB" sz="2100" dirty="0" err="1"/>
              <a:t>Kalodner</a:t>
            </a:r>
            <a:r>
              <a:rPr lang="en-GB" sz="2100" dirty="0"/>
              <a:t> et al. 2018) to compare real world speed and cost</a:t>
            </a:r>
          </a:p>
          <a:p>
            <a:pPr lvl="1"/>
            <a:r>
              <a:rPr lang="en-GB" sz="2100" dirty="0"/>
              <a:t>Utilise LLM agents that are performing a collaborative task</a:t>
            </a:r>
          </a:p>
          <a:p>
            <a:pPr lvl="1"/>
            <a:r>
              <a:rPr lang="en-GB" sz="2100" dirty="0"/>
              <a:t>Implement Adversarial Testing: Design malicious agents to quantitatively measure the system’s resilience.</a:t>
            </a:r>
          </a:p>
          <a:p>
            <a:endParaRPr lang="en-GB" sz="2100" dirty="0"/>
          </a:p>
          <a:p>
            <a:endParaRPr lang="en-GB" sz="2100" dirty="0"/>
          </a:p>
          <a:p>
            <a:pPr marL="0" indent="0">
              <a:buNone/>
            </a:pPr>
            <a:endParaRPr lang="en-GB" sz="2100" dirty="0"/>
          </a:p>
          <a:p>
            <a:pPr marL="914400" lvl="2" indent="0">
              <a:buNone/>
            </a:pPr>
            <a:r>
              <a:rPr lang="en-GB" sz="2100" dirty="0"/>
              <a:t> </a:t>
            </a:r>
            <a:r>
              <a:rPr lang="en-AU" sz="2100" dirty="0"/>
              <a:t> </a:t>
            </a:r>
          </a:p>
          <a:p>
            <a:pPr marL="0" indent="0">
              <a:buNone/>
            </a:pPr>
            <a:endParaRPr lang="en-AU" sz="2100" dirty="0"/>
          </a:p>
          <a:p>
            <a:endParaRPr lang="en-GB" sz="2100" dirty="0"/>
          </a:p>
          <a:p>
            <a:pPr marL="0" indent="0">
              <a:buNone/>
            </a:pPr>
            <a:endParaRPr lang="en-GB" sz="2100" dirty="0"/>
          </a:p>
          <a:p>
            <a:pPr marL="0" indent="0">
              <a:buNone/>
            </a:pPr>
            <a:endParaRPr lang="en-GB" sz="1700" dirty="0"/>
          </a:p>
          <a:p>
            <a:pPr lvl="1"/>
            <a:endParaRPr lang="en-GB" sz="1700" dirty="0"/>
          </a:p>
          <a:p>
            <a:pPr lvl="1"/>
            <a:endParaRPr lang="en-GB" sz="1700" dirty="0"/>
          </a:p>
        </p:txBody>
      </p:sp>
    </p:spTree>
    <p:extLst>
      <p:ext uri="{BB962C8B-B14F-4D97-AF65-F5344CB8AC3E}">
        <p14:creationId xmlns:p14="http://schemas.microsoft.com/office/powerpoint/2010/main" val="3663038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39BB8-EF23-68A4-C809-6A34DA1F18F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FCB4B95-4539-7BC4-453E-AD3AEEB39C30}"/>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GB" dirty="0"/>
              <a:t>Conclusion</a:t>
            </a:r>
            <a:endParaRPr lang="en-AU" dirty="0"/>
          </a:p>
        </p:txBody>
      </p:sp>
      <p:sp>
        <p:nvSpPr>
          <p:cNvPr id="8" name="Content Placeholder 2">
            <a:extLst>
              <a:ext uri="{FF2B5EF4-FFF2-40B4-BE49-F238E27FC236}">
                <a16:creationId xmlns:a16="http://schemas.microsoft.com/office/drawing/2014/main" id="{06F1E908-7A44-05E6-AD0B-AA98297EE6E4}"/>
              </a:ext>
            </a:extLst>
          </p:cNvPr>
          <p:cNvSpPr txBox="1">
            <a:spLocks/>
          </p:cNvSpPr>
          <p:nvPr/>
        </p:nvSpPr>
        <p:spPr>
          <a:xfrm>
            <a:off x="838200" y="1350661"/>
            <a:ext cx="8758474" cy="4470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00" dirty="0"/>
              <a:t>Architecture sacrifices on-chain write speed for perfect, near-instantaneous off-chain trust.</a:t>
            </a:r>
          </a:p>
          <a:p>
            <a:r>
              <a:rPr lang="en-GB" sz="2100" dirty="0"/>
              <a:t>System highly feasible for high value, low frequency data applications.</a:t>
            </a:r>
          </a:p>
          <a:p>
            <a:endParaRPr lang="en-GB" sz="2100" dirty="0"/>
          </a:p>
          <a:p>
            <a:pPr marL="914400" lvl="2" indent="0">
              <a:buNone/>
            </a:pPr>
            <a:r>
              <a:rPr lang="en-GB" sz="2100" dirty="0"/>
              <a:t> </a:t>
            </a:r>
            <a:r>
              <a:rPr lang="en-AU" sz="2100" dirty="0"/>
              <a:t> </a:t>
            </a:r>
          </a:p>
          <a:p>
            <a:pPr marL="0" indent="0">
              <a:buNone/>
            </a:pPr>
            <a:endParaRPr lang="en-AU" sz="2100" dirty="0"/>
          </a:p>
          <a:p>
            <a:endParaRPr lang="en-GB" sz="2100" dirty="0"/>
          </a:p>
          <a:p>
            <a:pPr marL="0" indent="0">
              <a:buNone/>
            </a:pPr>
            <a:endParaRPr lang="en-GB" sz="2100" dirty="0"/>
          </a:p>
          <a:p>
            <a:pPr marL="0" indent="0">
              <a:buNone/>
            </a:pPr>
            <a:endParaRPr lang="en-GB" sz="1700" dirty="0"/>
          </a:p>
          <a:p>
            <a:pPr lvl="1"/>
            <a:endParaRPr lang="en-GB" sz="1700" dirty="0"/>
          </a:p>
          <a:p>
            <a:pPr lvl="1"/>
            <a:endParaRPr lang="en-GB" sz="1700" dirty="0"/>
          </a:p>
        </p:txBody>
      </p:sp>
    </p:spTree>
    <p:extLst>
      <p:ext uri="{BB962C8B-B14F-4D97-AF65-F5344CB8AC3E}">
        <p14:creationId xmlns:p14="http://schemas.microsoft.com/office/powerpoint/2010/main" val="2393075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1DF46-494A-27FF-1B60-831A6B615A2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F9B6C97-36E8-539F-2600-1E254199B73C}"/>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AU" dirty="0"/>
              <a:t>References</a:t>
            </a:r>
          </a:p>
        </p:txBody>
      </p:sp>
      <p:sp>
        <p:nvSpPr>
          <p:cNvPr id="8" name="Content Placeholder 2">
            <a:extLst>
              <a:ext uri="{FF2B5EF4-FFF2-40B4-BE49-F238E27FC236}">
                <a16:creationId xmlns:a16="http://schemas.microsoft.com/office/drawing/2014/main" id="{208B66B1-9129-FBFB-3EBB-0F141C6145E9}"/>
              </a:ext>
            </a:extLst>
          </p:cNvPr>
          <p:cNvSpPr txBox="1">
            <a:spLocks/>
          </p:cNvSpPr>
          <p:nvPr/>
        </p:nvSpPr>
        <p:spPr>
          <a:xfrm>
            <a:off x="838200" y="1445125"/>
            <a:ext cx="9667875" cy="437545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400" dirty="0">
                <a:latin typeface="NimbusRomNo9L-Regu"/>
              </a:rPr>
              <a:t>Crosby, M., </a:t>
            </a:r>
            <a:r>
              <a:rPr lang="en-AU" sz="1400" dirty="0" err="1">
                <a:latin typeface="NimbusRomNo9L-Regu"/>
              </a:rPr>
              <a:t>Pattanayak</a:t>
            </a:r>
            <a:r>
              <a:rPr lang="en-AU" sz="1400" dirty="0">
                <a:latin typeface="NimbusRomNo9L-Regu"/>
              </a:rPr>
              <a:t>, P., Verma, S., &amp; Kalyanaraman, V. (2016). Blockchain technology: Beyond Bitcoin. Applied Innovation Review, (2), 6–19.</a:t>
            </a:r>
          </a:p>
          <a:p>
            <a:r>
              <a:rPr lang="en-AU" sz="1400" b="0" i="0" u="none" strike="noStrike" baseline="0" dirty="0">
                <a:latin typeface="NimbusRomNo9L-Regu"/>
              </a:rPr>
              <a:t>Gao, Y., Xiong, Y., Gao, X., Jia, K., Pan, J., Bi, Y., Dai, Y., Sun, J., Wang, M., &amp; Wang, H. (2024). Retrieval-augmented </a:t>
            </a:r>
            <a:r>
              <a:rPr lang="en-GB" sz="1400" b="0" i="0" u="none" strike="noStrike" baseline="0" dirty="0">
                <a:latin typeface="NimbusRomNo9L-Regu"/>
              </a:rPr>
              <a:t>generation for large language models: A survey. </a:t>
            </a:r>
            <a:r>
              <a:rPr lang="en-GB" sz="1400" b="0" i="0" u="none" strike="noStrike" baseline="0" dirty="0">
                <a:latin typeface="NimbusRomNo9L-Regu"/>
                <a:hlinkClick r:id="rId2"/>
              </a:rPr>
              <a:t>https://arxiv.org/abs/2312.10997</a:t>
            </a:r>
            <a:endParaRPr lang="en-GB" sz="1400" b="0" i="0" u="none" strike="noStrike" baseline="0" dirty="0">
              <a:latin typeface="NimbusRomNo9L-Regu"/>
            </a:endParaRPr>
          </a:p>
          <a:p>
            <a:pPr algn="l"/>
            <a:r>
              <a:rPr lang="en-AU" sz="1400" b="0" i="0" u="none" strike="noStrike" baseline="0" dirty="0">
                <a:latin typeface="NimbusRomNo9L-Regu"/>
              </a:rPr>
              <a:t>Guo, T., Chen, X., Wang, Y., Chang, R., Pei, S., Chawla, N. V., Wiest, O., &amp; Zhang, X. (2024). Large language model </a:t>
            </a:r>
            <a:r>
              <a:rPr lang="en-GB" sz="1400" b="0" i="0" u="none" strike="noStrike" baseline="0" dirty="0">
                <a:latin typeface="NimbusRomNo9L-Regu"/>
              </a:rPr>
              <a:t>based multi-agents: A survey of progress and challenges. </a:t>
            </a:r>
            <a:r>
              <a:rPr lang="en-GB" sz="1400" b="0" i="0" u="none" strike="noStrike" baseline="0" dirty="0">
                <a:latin typeface="NimbusRomNo9L-Regu"/>
                <a:hlinkClick r:id="rId3"/>
              </a:rPr>
              <a:t>https://arxiv.org/abs/2402.01680</a:t>
            </a:r>
            <a:endParaRPr lang="en-GB" sz="1400" b="0" i="0" u="none" strike="noStrike" baseline="0" dirty="0">
              <a:latin typeface="NimbusRomNo9L-Regu"/>
            </a:endParaRPr>
          </a:p>
          <a:p>
            <a:r>
              <a:rPr lang="en-GB" sz="1400" dirty="0">
                <a:latin typeface="NimbusRomNo9L-Regu"/>
              </a:rPr>
              <a:t>Hevner, A. R., March, S. T., Park, J., &amp; Ram, S. (2004). Design science in information systems research. MIS Quarterly, 28(1), 75–105.</a:t>
            </a:r>
          </a:p>
          <a:p>
            <a:r>
              <a:rPr lang="en-AU" sz="1400" dirty="0" err="1">
                <a:latin typeface="NimbusRomNo9L-Regu"/>
              </a:rPr>
              <a:t>Kalodner</a:t>
            </a:r>
            <a:r>
              <a:rPr lang="en-AU" sz="1400" dirty="0">
                <a:latin typeface="NimbusRomNo9L-Regu"/>
              </a:rPr>
              <a:t>, H., Goldfeder, S., Chen, X., Weinberg, S. M., &amp; Felten, E. W. (2018). </a:t>
            </a:r>
            <a:r>
              <a:rPr lang="en-AU" sz="1400" dirty="0" err="1">
                <a:latin typeface="NimbusRomNo9L-Regu"/>
              </a:rPr>
              <a:t>Arbitrum</a:t>
            </a:r>
            <a:r>
              <a:rPr lang="en-AU" sz="1400" dirty="0">
                <a:latin typeface="NimbusRomNo9L-Regu"/>
              </a:rPr>
              <a:t>: Scalable, private smart contracts. In 27th USENIX Security Symposium (USENIX Security 18) (pp. 1353–1370). USENIX Association.</a:t>
            </a:r>
            <a:endParaRPr lang="en-GB" sz="1400" dirty="0">
              <a:latin typeface="NimbusRomNo9L-Regu"/>
            </a:endParaRPr>
          </a:p>
          <a:p>
            <a:r>
              <a:rPr lang="en-GB" sz="1400" b="0" i="0" u="none" strike="noStrike" baseline="0" dirty="0">
                <a:latin typeface="NimbusRomNo9L-Regu"/>
              </a:rPr>
              <a:t>Khosla, S., Zhu, Z., &amp; He, Y. (2023). Survey on memory-augmented neural networks: Cognitive insights to ai applications. </a:t>
            </a:r>
            <a:r>
              <a:rPr lang="en-AU" sz="1400" b="0" i="0" u="none" strike="noStrike" baseline="0" dirty="0">
                <a:latin typeface="NimbusRomNo9L-Regu"/>
                <a:hlinkClick r:id="rId4"/>
              </a:rPr>
              <a:t>https://arxiv.org/abs/2312.06141</a:t>
            </a:r>
            <a:endParaRPr lang="en-AU" sz="1400" dirty="0">
              <a:latin typeface="NimbusRomNo9L-Regu"/>
            </a:endParaRPr>
          </a:p>
          <a:p>
            <a:pPr algn="l"/>
            <a:r>
              <a:rPr lang="en-AU" sz="1400" b="0" i="0" u="none" strike="noStrike" baseline="0" dirty="0">
                <a:latin typeface="NimbusRomNo9L-Regu"/>
              </a:rPr>
              <a:t>Manzoor, M. A., </a:t>
            </a:r>
            <a:r>
              <a:rPr lang="en-AU" sz="1400" b="0" i="0" u="none" strike="noStrike" baseline="0" dirty="0" err="1">
                <a:latin typeface="NimbusRomNo9L-Regu"/>
              </a:rPr>
              <a:t>Albarri</a:t>
            </a:r>
            <a:r>
              <a:rPr lang="en-AU" sz="1400" b="0" i="0" u="none" strike="noStrike" baseline="0" dirty="0">
                <a:latin typeface="NimbusRomNo9L-Regu"/>
              </a:rPr>
              <a:t>, S., Xian, Z., Meng, Z., </a:t>
            </a:r>
            <a:r>
              <a:rPr lang="en-AU" sz="1400" b="0" i="0" u="none" strike="noStrike" baseline="0" dirty="0" err="1">
                <a:latin typeface="NimbusRomNo9L-Regu"/>
              </a:rPr>
              <a:t>Nakov</a:t>
            </a:r>
            <a:r>
              <a:rPr lang="en-AU" sz="1400" b="0" i="0" u="none" strike="noStrike" baseline="0" dirty="0">
                <a:latin typeface="NimbusRomNo9L-Regu"/>
              </a:rPr>
              <a:t>, P., &amp; Liang, S. (2023). Multimodality representation learning: </a:t>
            </a:r>
            <a:r>
              <a:rPr lang="en-GB" sz="1400" b="0" i="0" u="none" strike="noStrike" baseline="0" dirty="0">
                <a:latin typeface="NimbusRomNo9L-Regu"/>
              </a:rPr>
              <a:t>A survey on evolution, pretraining and its applications. </a:t>
            </a:r>
            <a:r>
              <a:rPr lang="en-GB" sz="1400" b="0" i="0" u="none" strike="noStrike" baseline="0" dirty="0">
                <a:latin typeface="NimbusRomNo9L-ReguItal"/>
              </a:rPr>
              <a:t>ACM Trans. Multimedia </a:t>
            </a:r>
            <a:r>
              <a:rPr lang="en-GB" sz="1400" b="0" i="0" u="none" strike="noStrike" baseline="0" dirty="0" err="1">
                <a:latin typeface="NimbusRomNo9L-ReguItal"/>
              </a:rPr>
              <a:t>Comput</a:t>
            </a:r>
            <a:r>
              <a:rPr lang="en-GB" sz="1400" b="0" i="0" u="none" strike="noStrike" baseline="0" dirty="0">
                <a:latin typeface="NimbusRomNo9L-ReguItal"/>
              </a:rPr>
              <a:t>. Commun. Appl.</a:t>
            </a:r>
            <a:r>
              <a:rPr lang="en-GB" sz="1400" b="0" i="0" u="none" strike="noStrike" baseline="0" dirty="0">
                <a:latin typeface="NimbusRomNo9L-Regu"/>
              </a:rPr>
              <a:t>, </a:t>
            </a:r>
            <a:r>
              <a:rPr lang="en-GB" sz="1400" b="0" i="0" u="none" strike="noStrike" baseline="0" dirty="0">
                <a:latin typeface="NimbusRomNo9L-ReguItal"/>
              </a:rPr>
              <a:t>20</a:t>
            </a:r>
            <a:r>
              <a:rPr lang="en-GB" sz="1400" b="0" i="0" u="none" strike="noStrike" baseline="0" dirty="0">
                <a:latin typeface="NimbusRomNo9L-Regu"/>
              </a:rPr>
              <a:t>(3). </a:t>
            </a:r>
            <a:r>
              <a:rPr lang="en-AU" sz="1400" b="0" i="0" u="none" strike="noStrike" baseline="0" dirty="0">
                <a:latin typeface="NimbusRomNo9L-Regu"/>
              </a:rPr>
              <a:t>https://doi.org/10.1145/3617833</a:t>
            </a:r>
          </a:p>
          <a:p>
            <a:pPr algn="l"/>
            <a:r>
              <a:rPr lang="en-GB" sz="1400" b="0" i="0" u="none" strike="noStrike" baseline="0" dirty="0">
                <a:latin typeface="NimbusRomNo9L-Regu"/>
              </a:rPr>
              <a:t>Wang, L., Zhang, X., Su, H., &amp; Zhu, J. (2024). A comprehensive survey of continual learning: Theory, method and </a:t>
            </a:r>
            <a:r>
              <a:rPr lang="en-AU" sz="1400" b="0" i="0" u="none" strike="noStrike" baseline="0" dirty="0">
                <a:latin typeface="NimbusRomNo9L-Regu"/>
              </a:rPr>
              <a:t>application. </a:t>
            </a:r>
            <a:r>
              <a:rPr lang="en-AU" sz="1400" b="0" i="0" u="none" strike="noStrike" baseline="0" dirty="0">
                <a:latin typeface="NimbusRomNo9L-ReguItal"/>
              </a:rPr>
              <a:t>IEEE Transactions on Pattern Analysis and Machine Intelligence</a:t>
            </a:r>
            <a:r>
              <a:rPr lang="en-AU" sz="1400" b="0" i="0" u="none" strike="noStrike" baseline="0" dirty="0">
                <a:latin typeface="NimbusRomNo9L-Regu"/>
              </a:rPr>
              <a:t>, </a:t>
            </a:r>
            <a:r>
              <a:rPr lang="en-AU" sz="1400" b="0" i="0" u="none" strike="noStrike" baseline="0" dirty="0">
                <a:latin typeface="NimbusRomNo9L-ReguItal"/>
              </a:rPr>
              <a:t>46</a:t>
            </a:r>
            <a:r>
              <a:rPr lang="en-AU" sz="1400" b="0" i="0" u="none" strike="noStrike" baseline="0" dirty="0">
                <a:latin typeface="NimbusRomNo9L-Regu"/>
              </a:rPr>
              <a:t>(8), 5362–5383. https://doi.org/10.1109/TPAMI.2024.3367329</a:t>
            </a:r>
          </a:p>
        </p:txBody>
      </p:sp>
    </p:spTree>
    <p:extLst>
      <p:ext uri="{BB962C8B-B14F-4D97-AF65-F5344CB8AC3E}">
        <p14:creationId xmlns:p14="http://schemas.microsoft.com/office/powerpoint/2010/main" val="803534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2027211-9197-8552-878D-2C4C2D24F874}"/>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AU" dirty="0"/>
              <a:t>References cont.</a:t>
            </a:r>
          </a:p>
        </p:txBody>
      </p:sp>
      <p:sp>
        <p:nvSpPr>
          <p:cNvPr id="8" name="Content Placeholder 2">
            <a:extLst>
              <a:ext uri="{FF2B5EF4-FFF2-40B4-BE49-F238E27FC236}">
                <a16:creationId xmlns:a16="http://schemas.microsoft.com/office/drawing/2014/main" id="{C2161E1A-116D-161B-ABF5-DF5817D27F38}"/>
              </a:ext>
            </a:extLst>
          </p:cNvPr>
          <p:cNvSpPr txBox="1">
            <a:spLocks/>
          </p:cNvSpPr>
          <p:nvPr/>
        </p:nvSpPr>
        <p:spPr>
          <a:xfrm>
            <a:off x="838200" y="1445125"/>
            <a:ext cx="9667875" cy="437545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dirty="0">
                <a:latin typeface="NimbusRomNo9L-Regu"/>
              </a:rPr>
              <a:t>Wang, S., Zhu, Y., Liu, H., Zheng, Z., Chen, C., &amp; Li, J. (2024). Knowledge editing for large language models: A survey. </a:t>
            </a:r>
            <a:r>
              <a:rPr lang="en-AU" sz="1400" dirty="0">
                <a:latin typeface="NimbusRomNo9L-ReguItal"/>
              </a:rPr>
              <a:t>ACM Comput. </a:t>
            </a:r>
            <a:r>
              <a:rPr lang="en-AU" sz="1400" dirty="0" err="1">
                <a:latin typeface="NimbusRomNo9L-ReguItal"/>
              </a:rPr>
              <a:t>Surv</a:t>
            </a:r>
            <a:r>
              <a:rPr lang="en-AU" sz="1400" dirty="0">
                <a:latin typeface="NimbusRomNo9L-ReguItal"/>
              </a:rPr>
              <a:t>.</a:t>
            </a:r>
            <a:r>
              <a:rPr lang="en-AU" sz="1400" dirty="0">
                <a:latin typeface="NimbusRomNo9L-Regu"/>
              </a:rPr>
              <a:t>, </a:t>
            </a:r>
            <a:r>
              <a:rPr lang="en-AU" sz="1400" dirty="0">
                <a:latin typeface="NimbusRomNo9L-ReguItal"/>
              </a:rPr>
              <a:t>57</a:t>
            </a:r>
            <a:r>
              <a:rPr lang="en-AU" sz="1400" dirty="0">
                <a:latin typeface="NimbusRomNo9L-Regu"/>
              </a:rPr>
              <a:t>(3). </a:t>
            </a:r>
            <a:r>
              <a:rPr lang="en-AU" sz="1400" dirty="0">
                <a:latin typeface="NimbusRomNo9L-Regu"/>
                <a:hlinkClick r:id="rId2"/>
              </a:rPr>
              <a:t>https://doi.org/10.1145/3698590</a:t>
            </a:r>
            <a:endParaRPr lang="en-AU" sz="1400" dirty="0">
              <a:latin typeface="NimbusRomNo9L-Regu"/>
            </a:endParaRPr>
          </a:p>
          <a:p>
            <a:pPr algn="just"/>
            <a:r>
              <a:rPr lang="en-GB" sz="1400" dirty="0">
                <a:latin typeface="NimbusRomNo9L-Regu"/>
              </a:rPr>
              <a:t>Wiesinger, J., Marlow, P., &amp; </a:t>
            </a:r>
            <a:r>
              <a:rPr lang="en-GB" sz="1400" dirty="0" err="1">
                <a:latin typeface="NimbusRomNo9L-Regu"/>
              </a:rPr>
              <a:t>Vuskovic</a:t>
            </a:r>
            <a:r>
              <a:rPr lang="en-GB" sz="1400" dirty="0">
                <a:latin typeface="NimbusRomNo9L-Regu"/>
              </a:rPr>
              <a:t>, V. (2024, November). </a:t>
            </a:r>
            <a:r>
              <a:rPr lang="en-GB" sz="1400" dirty="0">
                <a:latin typeface="NimbusRomNo9L-ReguItal"/>
              </a:rPr>
              <a:t>Agents </a:t>
            </a:r>
            <a:r>
              <a:rPr lang="en-GB" sz="1400" dirty="0">
                <a:latin typeface="NimbusRomNo9L-Regu"/>
              </a:rPr>
              <a:t>(White paper) (Retrieved from the Internet Archive). Google. Retrieved May 4, 2025, from </a:t>
            </a:r>
            <a:r>
              <a:rPr lang="en-GB" sz="1400" dirty="0">
                <a:latin typeface="NimbusRomNo9L-Regu"/>
                <a:hlinkClick r:id="rId3"/>
              </a:rPr>
              <a:t>https://archive.org/details/google-ai-agents-whitepaper</a:t>
            </a:r>
            <a:endParaRPr lang="en-GB" sz="1400" dirty="0">
              <a:latin typeface="NimbusRomNo9L-Regu"/>
            </a:endParaRPr>
          </a:p>
          <a:p>
            <a:pPr algn="l"/>
            <a:r>
              <a:rPr lang="de-DE" sz="1400" b="0" i="0" u="none" strike="noStrike" baseline="0" dirty="0">
                <a:latin typeface="NimbusRomNo9L-Regu"/>
              </a:rPr>
              <a:t>Yu, M., Meng, F., Zhou, X.,Wang, S., Mao, J., Pang, L., Chen, T.,Wang, K., Li, X., Zhang, Y., An, B., &amp;Wen, Q. (2025). </a:t>
            </a:r>
            <a:r>
              <a:rPr lang="en-GB" sz="1400" b="0" i="0" u="none" strike="noStrike" baseline="0" dirty="0">
                <a:latin typeface="NimbusRomNo9L-Regu"/>
              </a:rPr>
              <a:t>A survey on trustworthy </a:t>
            </a:r>
            <a:r>
              <a:rPr lang="en-GB" sz="1400" b="0" i="0" u="none" strike="noStrike" baseline="0" dirty="0" err="1">
                <a:latin typeface="NimbusRomNo9L-Regu"/>
              </a:rPr>
              <a:t>llm</a:t>
            </a:r>
            <a:r>
              <a:rPr lang="en-GB" sz="1400" b="0" i="0" u="none" strike="noStrike" baseline="0" dirty="0">
                <a:latin typeface="NimbusRomNo9L-Regu"/>
              </a:rPr>
              <a:t> agents: Threats and countermeasures. https://arxiv.org/abs/2503.09648</a:t>
            </a:r>
            <a:endParaRPr lang="en-AU" sz="1400" b="0" i="0" u="none" strike="noStrike" baseline="0" dirty="0">
              <a:latin typeface="NimbusRomNo9L-Regu"/>
            </a:endParaRPr>
          </a:p>
          <a:p>
            <a:r>
              <a:rPr lang="en-AU" sz="1400" b="0" i="0" u="none" strike="noStrike" baseline="0" dirty="0">
                <a:latin typeface="NimbusRomNo9L-Regu"/>
              </a:rPr>
              <a:t>Zhang, Z., Bo, X., Ma, C., Li, R., Chen, X., Dai, Q., Zhu, J., Dong, Z., &amp; Wen, J.-R. (2024). A survey on the memory </a:t>
            </a:r>
            <a:r>
              <a:rPr lang="en-GB" sz="1400" b="0" i="0" u="none" strike="noStrike" baseline="0" dirty="0">
                <a:latin typeface="NimbusRomNo9L-Regu"/>
              </a:rPr>
              <a:t>mechanism of large language model based agents. </a:t>
            </a:r>
            <a:r>
              <a:rPr lang="en-GB" sz="1400" b="0" i="0" u="none" strike="noStrike" baseline="0" dirty="0">
                <a:latin typeface="NimbusRomNo9L-Regu"/>
                <a:hlinkClick r:id="rId4"/>
              </a:rPr>
              <a:t>https://arxiv.org/abs/2404.13501</a:t>
            </a:r>
            <a:endParaRPr lang="en-GB" sz="1400" b="0" i="0" u="none" strike="noStrike" baseline="0" dirty="0">
              <a:latin typeface="NimbusRomNo9L-Regu"/>
            </a:endParaRPr>
          </a:p>
          <a:p>
            <a:pPr algn="l"/>
            <a:endParaRPr lang="en-AU" sz="1400" b="0" i="0" u="none" strike="noStrike" baseline="0" dirty="0">
              <a:latin typeface="NimbusRomNo9L-Regu"/>
            </a:endParaRPr>
          </a:p>
          <a:p>
            <a:pPr algn="l"/>
            <a:endParaRPr lang="en-AU" sz="1600" dirty="0"/>
          </a:p>
        </p:txBody>
      </p:sp>
    </p:spTree>
    <p:extLst>
      <p:ext uri="{BB962C8B-B14F-4D97-AF65-F5344CB8AC3E}">
        <p14:creationId xmlns:p14="http://schemas.microsoft.com/office/powerpoint/2010/main" val="151542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DD0D7-4BDF-DF60-CAED-58E827FF7B5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7B7EF4B-66CF-CB5E-ECED-7924F0F19CE8}"/>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AU" dirty="0"/>
              <a:t>Appendix A – Data Summary</a:t>
            </a:r>
          </a:p>
        </p:txBody>
      </p:sp>
      <p:sp>
        <p:nvSpPr>
          <p:cNvPr id="8" name="Content Placeholder 2">
            <a:extLst>
              <a:ext uri="{FF2B5EF4-FFF2-40B4-BE49-F238E27FC236}">
                <a16:creationId xmlns:a16="http://schemas.microsoft.com/office/drawing/2014/main" id="{E094AB19-98A3-C7BD-E63A-B625A5044A10}"/>
              </a:ext>
            </a:extLst>
          </p:cNvPr>
          <p:cNvSpPr txBox="1">
            <a:spLocks/>
          </p:cNvSpPr>
          <p:nvPr/>
        </p:nvSpPr>
        <p:spPr>
          <a:xfrm>
            <a:off x="838200" y="1445125"/>
            <a:ext cx="9667875" cy="437545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AU" sz="1600" dirty="0"/>
          </a:p>
        </p:txBody>
      </p:sp>
      <p:graphicFrame>
        <p:nvGraphicFramePr>
          <p:cNvPr id="5" name="Table 4">
            <a:extLst>
              <a:ext uri="{FF2B5EF4-FFF2-40B4-BE49-F238E27FC236}">
                <a16:creationId xmlns:a16="http://schemas.microsoft.com/office/drawing/2014/main" id="{64AA338B-D3CA-0964-7112-CB2E03E219EE}"/>
              </a:ext>
            </a:extLst>
          </p:cNvPr>
          <p:cNvGraphicFramePr>
            <a:graphicFrameLocks noGrp="1"/>
          </p:cNvGraphicFramePr>
          <p:nvPr>
            <p:extLst>
              <p:ext uri="{D42A27DB-BD31-4B8C-83A1-F6EECF244321}">
                <p14:modId xmlns:p14="http://schemas.microsoft.com/office/powerpoint/2010/main" val="1167174530"/>
              </p:ext>
            </p:extLst>
          </p:nvPr>
        </p:nvGraphicFramePr>
        <p:xfrm>
          <a:off x="1906621" y="1979579"/>
          <a:ext cx="7354110" cy="3151760"/>
        </p:xfrm>
        <a:graphic>
          <a:graphicData uri="http://schemas.openxmlformats.org/drawingml/2006/table">
            <a:tbl>
              <a:tblPr/>
              <a:tblGrid>
                <a:gridCol w="1316368">
                  <a:extLst>
                    <a:ext uri="{9D8B030D-6E8A-4147-A177-3AD203B41FA5}">
                      <a16:colId xmlns:a16="http://schemas.microsoft.com/office/drawing/2014/main" val="2619512732"/>
                    </a:ext>
                  </a:extLst>
                </a:gridCol>
                <a:gridCol w="2012580">
                  <a:extLst>
                    <a:ext uri="{9D8B030D-6E8A-4147-A177-3AD203B41FA5}">
                      <a16:colId xmlns:a16="http://schemas.microsoft.com/office/drawing/2014/main" val="1536485749"/>
                    </a:ext>
                  </a:extLst>
                </a:gridCol>
                <a:gridCol w="2152993">
                  <a:extLst>
                    <a:ext uri="{9D8B030D-6E8A-4147-A177-3AD203B41FA5}">
                      <a16:colId xmlns:a16="http://schemas.microsoft.com/office/drawing/2014/main" val="1588983560"/>
                    </a:ext>
                  </a:extLst>
                </a:gridCol>
                <a:gridCol w="1872169">
                  <a:extLst>
                    <a:ext uri="{9D8B030D-6E8A-4147-A177-3AD203B41FA5}">
                      <a16:colId xmlns:a16="http://schemas.microsoft.com/office/drawing/2014/main" val="1136174234"/>
                    </a:ext>
                  </a:extLst>
                </a:gridCol>
              </a:tblGrid>
              <a:tr h="630352">
                <a:tc>
                  <a:txBody>
                    <a:bodyPr/>
                    <a:lstStyle/>
                    <a:p>
                      <a:pPr algn="l" fontAlgn="b">
                        <a:buNone/>
                      </a:pPr>
                      <a:r>
                        <a:rPr lang="en-AU" sz="1100" b="1" i="0" u="none" strike="noStrike">
                          <a:solidFill>
                            <a:srgbClr val="FFFFFF"/>
                          </a:solidFill>
                          <a:effectLst/>
                          <a:latin typeface="Aptos Narrow" panose="020B0004020202020204" pitchFamily="34" charset="0"/>
                        </a:rPr>
                        <a:t>Metrics</a:t>
                      </a:r>
                    </a:p>
                  </a:txBody>
                  <a:tcPr marL="9525" marR="9525" marT="9525" marB="0" anchor="b">
                    <a:lnL>
                      <a:noFill/>
                    </a:lnL>
                    <a:lnR>
                      <a:noFill/>
                    </a:lnR>
                    <a:lnT>
                      <a:noFill/>
                    </a:lnT>
                    <a:lnB w="12700" cap="flat" cmpd="sng" algn="ctr">
                      <a:solidFill>
                        <a:srgbClr val="FFFFFF"/>
                      </a:solidFill>
                      <a:prstDash val="solid"/>
                      <a:round/>
                      <a:headEnd type="none" w="med" len="med"/>
                      <a:tailEnd type="none" w="med" len="med"/>
                    </a:lnB>
                    <a:solidFill>
                      <a:srgbClr val="000000"/>
                    </a:solidFill>
                  </a:tcPr>
                </a:tc>
                <a:tc>
                  <a:txBody>
                    <a:bodyPr/>
                    <a:lstStyle/>
                    <a:p>
                      <a:pPr algn="l" fontAlgn="b">
                        <a:buNone/>
                      </a:pPr>
                      <a:r>
                        <a:rPr lang="en-AU" sz="1100" b="1" i="0" u="none" strike="noStrike" dirty="0">
                          <a:solidFill>
                            <a:srgbClr val="FFFFFF"/>
                          </a:solidFill>
                          <a:effectLst/>
                          <a:latin typeface="Aptos Narrow" panose="020B0004020202020204" pitchFamily="34" charset="0"/>
                        </a:rPr>
                        <a:t>Small Payload</a:t>
                      </a:r>
                    </a:p>
                  </a:txBody>
                  <a:tcPr marL="9525" marR="9525" marT="9525" marB="0" anchor="b">
                    <a:lnL>
                      <a:noFill/>
                    </a:lnL>
                    <a:lnR>
                      <a:noFill/>
                    </a:lnR>
                    <a:lnT>
                      <a:noFill/>
                    </a:lnT>
                    <a:lnB w="12700" cap="flat" cmpd="sng" algn="ctr">
                      <a:solidFill>
                        <a:srgbClr val="FFFFFF"/>
                      </a:solidFill>
                      <a:prstDash val="solid"/>
                      <a:round/>
                      <a:headEnd type="none" w="med" len="med"/>
                      <a:tailEnd type="none" w="med" len="med"/>
                    </a:lnB>
                    <a:solidFill>
                      <a:srgbClr val="000000"/>
                    </a:solidFill>
                  </a:tcPr>
                </a:tc>
                <a:tc>
                  <a:txBody>
                    <a:bodyPr/>
                    <a:lstStyle/>
                    <a:p>
                      <a:pPr algn="l" fontAlgn="b">
                        <a:buNone/>
                      </a:pPr>
                      <a:r>
                        <a:rPr lang="en-AU" sz="1100" b="1" i="0" u="none" strike="noStrike">
                          <a:solidFill>
                            <a:srgbClr val="FFFFFF"/>
                          </a:solidFill>
                          <a:effectLst/>
                          <a:latin typeface="Aptos Narrow" panose="020B0004020202020204" pitchFamily="34" charset="0"/>
                        </a:rPr>
                        <a:t>Medium Payload</a:t>
                      </a:r>
                    </a:p>
                  </a:txBody>
                  <a:tcPr marL="9525" marR="9525" marT="9525" marB="0" anchor="b">
                    <a:lnL>
                      <a:noFill/>
                    </a:lnL>
                    <a:lnR>
                      <a:noFill/>
                    </a:lnR>
                    <a:lnT>
                      <a:noFill/>
                    </a:lnT>
                    <a:lnB w="12700" cap="flat" cmpd="sng" algn="ctr">
                      <a:solidFill>
                        <a:srgbClr val="FFFFFF"/>
                      </a:solidFill>
                      <a:prstDash val="solid"/>
                      <a:round/>
                      <a:headEnd type="none" w="med" len="med"/>
                      <a:tailEnd type="none" w="med" len="med"/>
                    </a:lnB>
                    <a:solidFill>
                      <a:srgbClr val="000000"/>
                    </a:solidFill>
                  </a:tcPr>
                </a:tc>
                <a:tc>
                  <a:txBody>
                    <a:bodyPr/>
                    <a:lstStyle/>
                    <a:p>
                      <a:pPr algn="l" fontAlgn="b">
                        <a:buNone/>
                      </a:pPr>
                      <a:r>
                        <a:rPr lang="en-AU" sz="1100" b="1" i="0" u="none" strike="noStrike">
                          <a:solidFill>
                            <a:srgbClr val="FFFFFF"/>
                          </a:solidFill>
                          <a:effectLst/>
                          <a:latin typeface="Aptos Narrow" panose="020B0004020202020204" pitchFamily="34" charset="0"/>
                        </a:rPr>
                        <a:t>Large Payload</a:t>
                      </a:r>
                    </a:p>
                  </a:txBody>
                  <a:tcPr marL="9525" marR="9525" marT="9525" marB="0" anchor="b">
                    <a:lnL>
                      <a:noFill/>
                    </a:lnL>
                    <a:lnR>
                      <a:noFill/>
                    </a:lnR>
                    <a:lnT>
                      <a:noFill/>
                    </a:lnT>
                    <a:lnB w="127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4240377219"/>
                  </a:ext>
                </a:extLst>
              </a:tr>
              <a:tr h="630352">
                <a:tc>
                  <a:txBody>
                    <a:bodyPr/>
                    <a:lstStyle/>
                    <a:p>
                      <a:pPr algn="l" fontAlgn="b">
                        <a:buNone/>
                      </a:pPr>
                      <a:r>
                        <a:rPr lang="en-AU" sz="1100" b="0" i="0" u="none" strike="noStrike">
                          <a:solidFill>
                            <a:srgbClr val="FFFFFF"/>
                          </a:solidFill>
                          <a:effectLst/>
                          <a:latin typeface="Aptos Narrow" panose="020B0004020202020204" pitchFamily="34" charset="0"/>
                        </a:rPr>
                        <a:t>AvgGas</a:t>
                      </a:r>
                    </a:p>
                  </a:txBody>
                  <a:tcPr marL="9525" marR="9525" marT="9525" marB="0" anchor="b">
                    <a:lnL>
                      <a:noFill/>
                    </a:lnL>
                    <a:lnR>
                      <a:noFill/>
                    </a:lnR>
                    <a:lnT w="12700" cap="flat" cmpd="sng" algn="ctr">
                      <a:solidFill>
                        <a:srgbClr val="FFFFFF"/>
                      </a:solidFill>
                      <a:prstDash val="solid"/>
                      <a:round/>
                      <a:headEnd type="none" w="med" len="med"/>
                      <a:tailEnd type="none" w="med" len="med"/>
                    </a:lnT>
                    <a:lnB>
                      <a:noFill/>
                    </a:lnB>
                    <a:solidFill>
                      <a:srgbClr val="404040"/>
                    </a:solidFill>
                  </a:tcPr>
                </a:tc>
                <a:tc>
                  <a:txBody>
                    <a:bodyPr/>
                    <a:lstStyle/>
                    <a:p>
                      <a:pPr algn="r" fontAlgn="b">
                        <a:buNone/>
                      </a:pPr>
                      <a:r>
                        <a:rPr lang="en-AU" sz="1100" b="0" i="0" u="none" strike="noStrike">
                          <a:solidFill>
                            <a:srgbClr val="FFFFFF"/>
                          </a:solidFill>
                          <a:effectLst/>
                          <a:latin typeface="Aptos Narrow" panose="020B0004020202020204" pitchFamily="34" charset="0"/>
                        </a:rPr>
                        <a:t>37578.246</a:t>
                      </a:r>
                    </a:p>
                  </a:txBody>
                  <a:tcPr marL="9525" marR="9525" marT="9525" marB="0" anchor="b">
                    <a:lnL>
                      <a:noFill/>
                    </a:lnL>
                    <a:lnR>
                      <a:noFill/>
                    </a:lnR>
                    <a:lnT w="12700" cap="flat" cmpd="sng" algn="ctr">
                      <a:solidFill>
                        <a:srgbClr val="FFFFFF"/>
                      </a:solidFill>
                      <a:prstDash val="solid"/>
                      <a:round/>
                      <a:headEnd type="none" w="med" len="med"/>
                      <a:tailEnd type="none" w="med" len="med"/>
                    </a:lnT>
                    <a:lnB>
                      <a:noFill/>
                    </a:lnB>
                    <a:solidFill>
                      <a:srgbClr val="404040"/>
                    </a:solidFill>
                  </a:tcPr>
                </a:tc>
                <a:tc>
                  <a:txBody>
                    <a:bodyPr/>
                    <a:lstStyle/>
                    <a:p>
                      <a:pPr algn="r" fontAlgn="b">
                        <a:buNone/>
                      </a:pPr>
                      <a:r>
                        <a:rPr lang="en-AU" sz="1100" b="0" i="0" u="none" strike="noStrike">
                          <a:solidFill>
                            <a:srgbClr val="FFFFFF"/>
                          </a:solidFill>
                          <a:effectLst/>
                          <a:latin typeface="Aptos Narrow" panose="020B0004020202020204" pitchFamily="34" charset="0"/>
                        </a:rPr>
                        <a:t>41400.99133</a:t>
                      </a:r>
                    </a:p>
                  </a:txBody>
                  <a:tcPr marL="9525" marR="9525" marT="9525" marB="0" anchor="b">
                    <a:lnL>
                      <a:noFill/>
                    </a:lnL>
                    <a:lnR>
                      <a:noFill/>
                    </a:lnR>
                    <a:lnT w="12700" cap="flat" cmpd="sng" algn="ctr">
                      <a:solidFill>
                        <a:srgbClr val="FFFFFF"/>
                      </a:solidFill>
                      <a:prstDash val="solid"/>
                      <a:round/>
                      <a:headEnd type="none" w="med" len="med"/>
                      <a:tailEnd type="none" w="med" len="med"/>
                    </a:lnT>
                    <a:lnB>
                      <a:noFill/>
                    </a:lnB>
                    <a:solidFill>
                      <a:srgbClr val="404040"/>
                    </a:solidFill>
                  </a:tcPr>
                </a:tc>
                <a:tc>
                  <a:txBody>
                    <a:bodyPr/>
                    <a:lstStyle/>
                    <a:p>
                      <a:pPr algn="r" fontAlgn="b">
                        <a:buNone/>
                      </a:pPr>
                      <a:r>
                        <a:rPr lang="en-AU" sz="1100" b="0" i="0" u="none" strike="noStrike">
                          <a:solidFill>
                            <a:srgbClr val="FFFFFF"/>
                          </a:solidFill>
                          <a:effectLst/>
                          <a:latin typeface="Aptos Narrow" panose="020B0004020202020204" pitchFamily="34" charset="0"/>
                        </a:rPr>
                        <a:t>46905.362</a:t>
                      </a:r>
                    </a:p>
                  </a:txBody>
                  <a:tcPr marL="9525" marR="9525" marT="9525" marB="0" anchor="b">
                    <a:lnL>
                      <a:noFill/>
                    </a:lnL>
                    <a:lnR>
                      <a:noFill/>
                    </a:lnR>
                    <a:lnT w="12700" cap="flat" cmpd="sng" algn="ctr">
                      <a:solidFill>
                        <a:srgbClr val="FFFFFF"/>
                      </a:solidFill>
                      <a:prstDash val="solid"/>
                      <a:round/>
                      <a:headEnd type="none" w="med" len="med"/>
                      <a:tailEnd type="none" w="med" len="med"/>
                    </a:lnT>
                    <a:lnB>
                      <a:noFill/>
                    </a:lnB>
                    <a:solidFill>
                      <a:srgbClr val="404040"/>
                    </a:solidFill>
                  </a:tcPr>
                </a:tc>
                <a:extLst>
                  <a:ext uri="{0D108BD9-81ED-4DB2-BD59-A6C34878D82A}">
                    <a16:rowId xmlns:a16="http://schemas.microsoft.com/office/drawing/2014/main" val="3257244951"/>
                  </a:ext>
                </a:extLst>
              </a:tr>
              <a:tr h="630352">
                <a:tc>
                  <a:txBody>
                    <a:bodyPr/>
                    <a:lstStyle/>
                    <a:p>
                      <a:pPr algn="l" fontAlgn="b">
                        <a:buNone/>
                      </a:pPr>
                      <a:r>
                        <a:rPr lang="en-AU" sz="1100" b="0" i="0" u="none" strike="noStrike">
                          <a:solidFill>
                            <a:srgbClr val="FFFFFF"/>
                          </a:solidFill>
                          <a:effectLst/>
                          <a:latin typeface="Aptos Narrow" panose="020B0004020202020204" pitchFamily="34" charset="0"/>
                        </a:rPr>
                        <a:t>PVA</a:t>
                      </a:r>
                    </a:p>
                  </a:txBody>
                  <a:tcPr marL="9525" marR="9525" marT="9525" marB="0" anchor="b">
                    <a:lnL>
                      <a:noFill/>
                    </a:lnL>
                    <a:lnR>
                      <a:noFill/>
                    </a:lnR>
                    <a:lnT>
                      <a:noFill/>
                    </a:lnT>
                    <a:lnB>
                      <a:noFill/>
                    </a:lnB>
                    <a:solidFill>
                      <a:srgbClr val="737373"/>
                    </a:solidFill>
                  </a:tcPr>
                </a:tc>
                <a:tc>
                  <a:txBody>
                    <a:bodyPr/>
                    <a:lstStyle/>
                    <a:p>
                      <a:pPr algn="r" fontAlgn="b">
                        <a:buNone/>
                      </a:pPr>
                      <a:r>
                        <a:rPr lang="en-AU" sz="1100" b="0" i="0" u="none" strike="noStrike">
                          <a:solidFill>
                            <a:srgbClr val="FFFFFF"/>
                          </a:solidFill>
                          <a:effectLst/>
                          <a:latin typeface="Aptos Narrow" panose="020B0004020202020204" pitchFamily="34" charset="0"/>
                        </a:rPr>
                        <a:t>1</a:t>
                      </a:r>
                    </a:p>
                  </a:txBody>
                  <a:tcPr marL="9525" marR="9525" marT="9525" marB="0" anchor="b">
                    <a:lnL>
                      <a:noFill/>
                    </a:lnL>
                    <a:lnR>
                      <a:noFill/>
                    </a:lnR>
                    <a:lnT>
                      <a:noFill/>
                    </a:lnT>
                    <a:lnB>
                      <a:noFill/>
                    </a:lnB>
                    <a:solidFill>
                      <a:srgbClr val="737373"/>
                    </a:solidFill>
                  </a:tcPr>
                </a:tc>
                <a:tc>
                  <a:txBody>
                    <a:bodyPr/>
                    <a:lstStyle/>
                    <a:p>
                      <a:pPr algn="r" fontAlgn="b">
                        <a:buNone/>
                      </a:pPr>
                      <a:r>
                        <a:rPr lang="en-AU" sz="1100" b="0" i="0" u="none" strike="noStrike">
                          <a:solidFill>
                            <a:srgbClr val="FFFFFF"/>
                          </a:solidFill>
                          <a:effectLst/>
                          <a:latin typeface="Aptos Narrow" panose="020B0004020202020204" pitchFamily="34" charset="0"/>
                        </a:rPr>
                        <a:t>1</a:t>
                      </a:r>
                    </a:p>
                  </a:txBody>
                  <a:tcPr marL="9525" marR="9525" marT="9525" marB="0" anchor="b">
                    <a:lnL>
                      <a:noFill/>
                    </a:lnL>
                    <a:lnR>
                      <a:noFill/>
                    </a:lnR>
                    <a:lnT>
                      <a:noFill/>
                    </a:lnT>
                    <a:lnB>
                      <a:noFill/>
                    </a:lnB>
                    <a:solidFill>
                      <a:srgbClr val="737373"/>
                    </a:solidFill>
                  </a:tcPr>
                </a:tc>
                <a:tc>
                  <a:txBody>
                    <a:bodyPr/>
                    <a:lstStyle/>
                    <a:p>
                      <a:pPr algn="r" fontAlgn="b">
                        <a:buNone/>
                      </a:pPr>
                      <a:r>
                        <a:rPr lang="en-AU" sz="1100" b="0" i="0" u="none" strike="noStrike">
                          <a:solidFill>
                            <a:srgbClr val="FFFFFF"/>
                          </a:solidFill>
                          <a:effectLst/>
                          <a:latin typeface="Aptos Narrow" panose="020B0004020202020204" pitchFamily="34" charset="0"/>
                        </a:rPr>
                        <a:t>1</a:t>
                      </a:r>
                    </a:p>
                  </a:txBody>
                  <a:tcPr marL="9525" marR="9525" marT="9525" marB="0" anchor="b">
                    <a:lnL>
                      <a:noFill/>
                    </a:lnL>
                    <a:lnR>
                      <a:noFill/>
                    </a:lnR>
                    <a:lnT>
                      <a:noFill/>
                    </a:lnT>
                    <a:lnB>
                      <a:noFill/>
                    </a:lnB>
                    <a:solidFill>
                      <a:srgbClr val="737373"/>
                    </a:solidFill>
                  </a:tcPr>
                </a:tc>
                <a:extLst>
                  <a:ext uri="{0D108BD9-81ED-4DB2-BD59-A6C34878D82A}">
                    <a16:rowId xmlns:a16="http://schemas.microsoft.com/office/drawing/2014/main" val="3456649805"/>
                  </a:ext>
                </a:extLst>
              </a:tr>
              <a:tr h="630352">
                <a:tc>
                  <a:txBody>
                    <a:bodyPr/>
                    <a:lstStyle/>
                    <a:p>
                      <a:pPr algn="l" fontAlgn="b">
                        <a:buNone/>
                      </a:pPr>
                      <a:r>
                        <a:rPr lang="en-AU" sz="1100" b="0" i="0" u="none" strike="noStrike">
                          <a:solidFill>
                            <a:srgbClr val="FFFFFF"/>
                          </a:solidFill>
                          <a:effectLst/>
                          <a:latin typeface="Aptos Narrow" panose="020B0004020202020204" pitchFamily="34" charset="0"/>
                        </a:rPr>
                        <a:t>VL</a:t>
                      </a:r>
                    </a:p>
                  </a:txBody>
                  <a:tcPr marL="9525" marR="9525" marT="9525" marB="0" anchor="b">
                    <a:lnL>
                      <a:noFill/>
                    </a:lnL>
                    <a:lnR>
                      <a:noFill/>
                    </a:lnR>
                    <a:lnT>
                      <a:noFill/>
                    </a:lnT>
                    <a:lnB>
                      <a:noFill/>
                    </a:lnB>
                    <a:solidFill>
                      <a:srgbClr val="404040"/>
                    </a:solidFill>
                  </a:tcPr>
                </a:tc>
                <a:tc>
                  <a:txBody>
                    <a:bodyPr/>
                    <a:lstStyle/>
                    <a:p>
                      <a:pPr algn="r" fontAlgn="b">
                        <a:buNone/>
                      </a:pPr>
                      <a:r>
                        <a:rPr lang="en-AU" sz="1100" b="0" i="0" u="none" strike="noStrike">
                          <a:solidFill>
                            <a:srgbClr val="FFFFFF"/>
                          </a:solidFill>
                          <a:effectLst/>
                          <a:latin typeface="Aptos Narrow" panose="020B0004020202020204" pitchFamily="34" charset="0"/>
                        </a:rPr>
                        <a:t>2.802704954</a:t>
                      </a:r>
                    </a:p>
                  </a:txBody>
                  <a:tcPr marL="9525" marR="9525" marT="9525" marB="0" anchor="b">
                    <a:lnL>
                      <a:noFill/>
                    </a:lnL>
                    <a:lnR>
                      <a:noFill/>
                    </a:lnR>
                    <a:lnT>
                      <a:noFill/>
                    </a:lnT>
                    <a:lnB>
                      <a:noFill/>
                    </a:lnB>
                    <a:solidFill>
                      <a:srgbClr val="404040"/>
                    </a:solidFill>
                  </a:tcPr>
                </a:tc>
                <a:tc>
                  <a:txBody>
                    <a:bodyPr/>
                    <a:lstStyle/>
                    <a:p>
                      <a:pPr algn="r" fontAlgn="b">
                        <a:buNone/>
                      </a:pPr>
                      <a:r>
                        <a:rPr lang="en-AU" sz="1100" b="0" i="0" u="none" strike="noStrike">
                          <a:solidFill>
                            <a:srgbClr val="FFFFFF"/>
                          </a:solidFill>
                          <a:effectLst/>
                          <a:latin typeface="Aptos Narrow" panose="020B0004020202020204" pitchFamily="34" charset="0"/>
                        </a:rPr>
                        <a:t>2.805641508</a:t>
                      </a:r>
                    </a:p>
                  </a:txBody>
                  <a:tcPr marL="9525" marR="9525" marT="9525" marB="0" anchor="b">
                    <a:lnL>
                      <a:noFill/>
                    </a:lnL>
                    <a:lnR>
                      <a:noFill/>
                    </a:lnR>
                    <a:lnT>
                      <a:noFill/>
                    </a:lnT>
                    <a:lnB>
                      <a:noFill/>
                    </a:lnB>
                    <a:solidFill>
                      <a:srgbClr val="404040"/>
                    </a:solidFill>
                  </a:tcPr>
                </a:tc>
                <a:tc>
                  <a:txBody>
                    <a:bodyPr/>
                    <a:lstStyle/>
                    <a:p>
                      <a:pPr algn="r" fontAlgn="b">
                        <a:buNone/>
                      </a:pPr>
                      <a:r>
                        <a:rPr lang="en-AU" sz="1100" b="0" i="0" u="none" strike="noStrike">
                          <a:solidFill>
                            <a:srgbClr val="FFFFFF"/>
                          </a:solidFill>
                          <a:effectLst/>
                          <a:latin typeface="Aptos Narrow" panose="020B0004020202020204" pitchFamily="34" charset="0"/>
                        </a:rPr>
                        <a:t>2.814731455</a:t>
                      </a:r>
                    </a:p>
                  </a:txBody>
                  <a:tcPr marL="9525" marR="9525" marT="9525" marB="0" anchor="b">
                    <a:lnL>
                      <a:noFill/>
                    </a:lnL>
                    <a:lnR>
                      <a:noFill/>
                    </a:lnR>
                    <a:lnT>
                      <a:noFill/>
                    </a:lnT>
                    <a:lnB>
                      <a:noFill/>
                    </a:lnB>
                    <a:solidFill>
                      <a:srgbClr val="404040"/>
                    </a:solidFill>
                  </a:tcPr>
                </a:tc>
                <a:extLst>
                  <a:ext uri="{0D108BD9-81ED-4DB2-BD59-A6C34878D82A}">
                    <a16:rowId xmlns:a16="http://schemas.microsoft.com/office/drawing/2014/main" val="3946387404"/>
                  </a:ext>
                </a:extLst>
              </a:tr>
              <a:tr h="630352">
                <a:tc>
                  <a:txBody>
                    <a:bodyPr/>
                    <a:lstStyle/>
                    <a:p>
                      <a:pPr algn="l" fontAlgn="b">
                        <a:buNone/>
                      </a:pPr>
                      <a:r>
                        <a:rPr lang="en-AU" sz="1100" b="0" i="0" u="none" strike="noStrike">
                          <a:solidFill>
                            <a:srgbClr val="FFFFFF"/>
                          </a:solidFill>
                          <a:effectLst/>
                          <a:latin typeface="Aptos Narrow" panose="020B0004020202020204" pitchFamily="34" charset="0"/>
                        </a:rPr>
                        <a:t>TT</a:t>
                      </a:r>
                    </a:p>
                  </a:txBody>
                  <a:tcPr marL="9525" marR="9525" marT="9525" marB="0" anchor="b">
                    <a:lnL>
                      <a:noFill/>
                    </a:lnL>
                    <a:lnR>
                      <a:noFill/>
                    </a:lnR>
                    <a:lnT>
                      <a:noFill/>
                    </a:lnT>
                    <a:lnB>
                      <a:noFill/>
                    </a:lnB>
                    <a:solidFill>
                      <a:srgbClr val="737373"/>
                    </a:solidFill>
                  </a:tcPr>
                </a:tc>
                <a:tc>
                  <a:txBody>
                    <a:bodyPr/>
                    <a:lstStyle/>
                    <a:p>
                      <a:pPr algn="r" fontAlgn="b">
                        <a:buNone/>
                      </a:pPr>
                      <a:r>
                        <a:rPr lang="en-AU" sz="1100" b="0" i="0" u="none" strike="noStrike">
                          <a:solidFill>
                            <a:srgbClr val="FFFFFF"/>
                          </a:solidFill>
                          <a:effectLst/>
                          <a:latin typeface="Aptos Narrow" panose="020B0004020202020204" pitchFamily="34" charset="0"/>
                        </a:rPr>
                        <a:t>20.10073784</a:t>
                      </a:r>
                    </a:p>
                  </a:txBody>
                  <a:tcPr marL="9525" marR="9525" marT="9525" marB="0" anchor="b">
                    <a:lnL>
                      <a:noFill/>
                    </a:lnL>
                    <a:lnR>
                      <a:noFill/>
                    </a:lnR>
                    <a:lnT>
                      <a:noFill/>
                    </a:lnT>
                    <a:lnB>
                      <a:noFill/>
                    </a:lnB>
                    <a:solidFill>
                      <a:srgbClr val="737373"/>
                    </a:solidFill>
                  </a:tcPr>
                </a:tc>
                <a:tc>
                  <a:txBody>
                    <a:bodyPr/>
                    <a:lstStyle/>
                    <a:p>
                      <a:pPr algn="r" fontAlgn="b">
                        <a:buNone/>
                      </a:pPr>
                      <a:r>
                        <a:rPr lang="en-AU" sz="1100" b="0" i="0" u="none" strike="noStrike">
                          <a:solidFill>
                            <a:srgbClr val="FFFFFF"/>
                          </a:solidFill>
                          <a:effectLst/>
                          <a:latin typeface="Aptos Narrow" panose="020B0004020202020204" pitchFamily="34" charset="0"/>
                        </a:rPr>
                        <a:t>13.72952111</a:t>
                      </a:r>
                    </a:p>
                  </a:txBody>
                  <a:tcPr marL="9525" marR="9525" marT="9525" marB="0" anchor="b">
                    <a:lnL>
                      <a:noFill/>
                    </a:lnL>
                    <a:lnR>
                      <a:noFill/>
                    </a:lnR>
                    <a:lnT>
                      <a:noFill/>
                    </a:lnT>
                    <a:lnB>
                      <a:noFill/>
                    </a:lnB>
                    <a:solidFill>
                      <a:srgbClr val="737373"/>
                    </a:solidFill>
                  </a:tcPr>
                </a:tc>
                <a:tc>
                  <a:txBody>
                    <a:bodyPr/>
                    <a:lstStyle/>
                    <a:p>
                      <a:pPr algn="r" fontAlgn="b">
                        <a:buNone/>
                      </a:pPr>
                      <a:r>
                        <a:rPr lang="en-AU" sz="1100" b="0" i="0" u="none" strike="noStrike" dirty="0">
                          <a:solidFill>
                            <a:srgbClr val="FFFFFF"/>
                          </a:solidFill>
                          <a:effectLst/>
                          <a:latin typeface="Aptos Narrow" panose="020B0004020202020204" pitchFamily="34" charset="0"/>
                        </a:rPr>
                        <a:t>10.24514462</a:t>
                      </a:r>
                    </a:p>
                  </a:txBody>
                  <a:tcPr marL="9525" marR="9525" marT="9525" marB="0" anchor="b">
                    <a:lnL>
                      <a:noFill/>
                    </a:lnL>
                    <a:lnR>
                      <a:noFill/>
                    </a:lnR>
                    <a:lnT>
                      <a:noFill/>
                    </a:lnT>
                    <a:lnB>
                      <a:noFill/>
                    </a:lnB>
                    <a:solidFill>
                      <a:srgbClr val="737373"/>
                    </a:solidFill>
                  </a:tcPr>
                </a:tc>
                <a:extLst>
                  <a:ext uri="{0D108BD9-81ED-4DB2-BD59-A6C34878D82A}">
                    <a16:rowId xmlns:a16="http://schemas.microsoft.com/office/drawing/2014/main" val="1530121371"/>
                  </a:ext>
                </a:extLst>
              </a:tr>
            </a:tbl>
          </a:graphicData>
        </a:graphic>
      </p:graphicFrame>
      <p:sp>
        <p:nvSpPr>
          <p:cNvPr id="6" name="Content Placeholder 2">
            <a:extLst>
              <a:ext uri="{FF2B5EF4-FFF2-40B4-BE49-F238E27FC236}">
                <a16:creationId xmlns:a16="http://schemas.microsoft.com/office/drawing/2014/main" id="{569EB4AC-1E4F-F769-6FF3-E4671C2B87A0}"/>
              </a:ext>
            </a:extLst>
          </p:cNvPr>
          <p:cNvSpPr txBox="1">
            <a:spLocks/>
          </p:cNvSpPr>
          <p:nvPr/>
        </p:nvSpPr>
        <p:spPr>
          <a:xfrm>
            <a:off x="1825554" y="1684221"/>
            <a:ext cx="4039892" cy="21105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200" kern="100" dirty="0">
                <a:latin typeface="Aptos" panose="020B0004020202020204" pitchFamily="34" charset="0"/>
                <a:cs typeface="Times New Roman" panose="02020603050405020304" pitchFamily="18" charset="0"/>
              </a:rPr>
              <a:t>Figure 6: </a:t>
            </a:r>
            <a:r>
              <a:rPr lang="en-GB" sz="1200" kern="100" dirty="0">
                <a:latin typeface="Aptos" panose="020B0004020202020204" pitchFamily="34" charset="0"/>
                <a:cs typeface="Times New Roman" panose="02020603050405020304" pitchFamily="18" charset="0"/>
              </a:rPr>
              <a:t>Final Test Data Summary by Payload Size</a:t>
            </a:r>
            <a:endParaRPr lang="en-GB" sz="2100" dirty="0"/>
          </a:p>
          <a:p>
            <a:pPr marL="914400" lvl="2" indent="0">
              <a:buNone/>
            </a:pPr>
            <a:r>
              <a:rPr lang="en-GB" sz="2100" dirty="0"/>
              <a:t> </a:t>
            </a:r>
            <a:r>
              <a:rPr lang="en-AU" sz="1700" dirty="0"/>
              <a:t> </a:t>
            </a:r>
          </a:p>
          <a:p>
            <a:pPr marL="0" indent="0">
              <a:buNone/>
            </a:pPr>
            <a:endParaRPr lang="en-AU" sz="2100" dirty="0"/>
          </a:p>
          <a:p>
            <a:endParaRPr lang="en-GB" sz="2100" dirty="0"/>
          </a:p>
          <a:p>
            <a:pPr marL="0" indent="0">
              <a:buNone/>
            </a:pPr>
            <a:endParaRPr lang="en-GB" sz="2100" dirty="0"/>
          </a:p>
          <a:p>
            <a:endParaRPr lang="en-GB" sz="1700" dirty="0"/>
          </a:p>
          <a:p>
            <a:pPr lvl="1"/>
            <a:endParaRPr lang="en-GB" sz="1700" dirty="0"/>
          </a:p>
        </p:txBody>
      </p:sp>
    </p:spTree>
    <p:extLst>
      <p:ext uri="{BB962C8B-B14F-4D97-AF65-F5344CB8AC3E}">
        <p14:creationId xmlns:p14="http://schemas.microsoft.com/office/powerpoint/2010/main" val="3282242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1F3D7-61D3-1A5A-9B04-37B366B0C46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ED50A16-84D9-DB43-7421-7CCD5D7B765F}"/>
              </a:ext>
            </a:extLst>
          </p:cNvPr>
          <p:cNvSpPr txBox="1">
            <a:spLocks/>
          </p:cNvSpPr>
          <p:nvPr/>
        </p:nvSpPr>
        <p:spPr>
          <a:xfrm>
            <a:off x="838200" y="365125"/>
            <a:ext cx="10515600" cy="1080000"/>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r>
              <a:rPr lang="en-AU" dirty="0"/>
              <a:t>Appendix C – Abstract</a:t>
            </a:r>
          </a:p>
        </p:txBody>
      </p:sp>
      <p:sp>
        <p:nvSpPr>
          <p:cNvPr id="8" name="Content Placeholder 2">
            <a:extLst>
              <a:ext uri="{FF2B5EF4-FFF2-40B4-BE49-F238E27FC236}">
                <a16:creationId xmlns:a16="http://schemas.microsoft.com/office/drawing/2014/main" id="{C238858F-B590-675C-C590-7748F8FBD430}"/>
              </a:ext>
            </a:extLst>
          </p:cNvPr>
          <p:cNvSpPr txBox="1">
            <a:spLocks/>
          </p:cNvSpPr>
          <p:nvPr/>
        </p:nvSpPr>
        <p:spPr>
          <a:xfrm>
            <a:off x="838200" y="1284051"/>
            <a:ext cx="9667875" cy="453653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7000"/>
              </a:lnSpc>
              <a:spcAft>
                <a:spcPts val="800"/>
              </a:spcAft>
              <a:buNone/>
            </a:pPr>
            <a:r>
              <a:rPr lang="en-GB" dirty="0"/>
              <a:t>Autonomous agents often lack trustworthy shared memory, which limits effective collaboration. This research project proposes a blockchain-inspired decentralised ledger to address this gap, focusing on a design that uses cryptographic signatures to ensure verifiable provenance. Rather than only focusing on theoretical design, this work provides a quantitative proof-of-concept by experimentally measuring the architecture's feasibility. This was achieved by evaluating its core performance characteristics; transaction throughput and verification latency along with its economic cost and scalability under different data loads. The findings establish a critical performance baseline and detail the fundamental trade-off between on-chain write speed and off-chain trust. This foundational work provides a clear, data-driven framework for understanding the practical application and limitations of DLTs in enhancing collaborative AI.</a:t>
            </a:r>
            <a:endParaRPr lang="en-AU" dirty="0">
              <a:solidFill>
                <a:srgbClr val="FF0000"/>
              </a:solidFill>
            </a:endParaRPr>
          </a:p>
          <a:p>
            <a:pPr algn="l"/>
            <a:endParaRPr lang="en-AU" sz="1600" dirty="0"/>
          </a:p>
        </p:txBody>
      </p:sp>
    </p:spTree>
    <p:extLst>
      <p:ext uri="{BB962C8B-B14F-4D97-AF65-F5344CB8AC3E}">
        <p14:creationId xmlns:p14="http://schemas.microsoft.com/office/powerpoint/2010/main" val="14101348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838DA-DE9F-C3CF-E575-260ABC9DA95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964D21A-F1B9-7493-62B0-9787DBD4D048}"/>
              </a:ext>
            </a:extLst>
          </p:cNvPr>
          <p:cNvSpPr txBox="1">
            <a:spLocks/>
          </p:cNvSpPr>
          <p:nvPr/>
        </p:nvSpPr>
        <p:spPr>
          <a:xfrm>
            <a:off x="725658" y="2053248"/>
            <a:ext cx="10515600" cy="2434346"/>
          </a:xfrm>
          <a:prstGeom prst="rect">
            <a:avLst/>
          </a:prstGeom>
        </p:spPr>
        <p:txBody>
          <a:bodyPr anchor="ctr"/>
          <a:lstStyle>
            <a:lvl1pPr algn="l" defTabSz="914400" rtl="0" eaLnBrk="1" latinLnBrk="0" hangingPunct="1">
              <a:lnSpc>
                <a:spcPct val="90000"/>
              </a:lnSpc>
              <a:spcBef>
                <a:spcPct val="0"/>
              </a:spcBef>
              <a:buNone/>
              <a:defRPr sz="3600" kern="1200" spc="150" baseline="0">
                <a:solidFill>
                  <a:schemeClr val="bg1"/>
                </a:solidFill>
                <a:latin typeface="+mj-lt"/>
                <a:ea typeface="+mj-ea"/>
                <a:cs typeface="+mj-cs"/>
              </a:defRPr>
            </a:lvl1pPr>
          </a:lstStyle>
          <a:p>
            <a:pPr algn="ctr"/>
            <a:r>
              <a:rPr lang="en-AU" dirty="0"/>
              <a:t>Thank you for listening.</a:t>
            </a:r>
          </a:p>
          <a:p>
            <a:pPr algn="ctr"/>
            <a:endParaRPr lang="en-AU" dirty="0"/>
          </a:p>
          <a:p>
            <a:pPr algn="ctr"/>
            <a:r>
              <a:rPr lang="en-AU" dirty="0"/>
              <a:t>Questions?</a:t>
            </a:r>
          </a:p>
        </p:txBody>
      </p:sp>
      <p:sp>
        <p:nvSpPr>
          <p:cNvPr id="8" name="Content Placeholder 2">
            <a:extLst>
              <a:ext uri="{FF2B5EF4-FFF2-40B4-BE49-F238E27FC236}">
                <a16:creationId xmlns:a16="http://schemas.microsoft.com/office/drawing/2014/main" id="{3DA9E9BA-12EF-455F-A390-9CD53BC1EDC8}"/>
              </a:ext>
            </a:extLst>
          </p:cNvPr>
          <p:cNvSpPr txBox="1">
            <a:spLocks/>
          </p:cNvSpPr>
          <p:nvPr/>
        </p:nvSpPr>
        <p:spPr>
          <a:xfrm>
            <a:off x="838200" y="1445125"/>
            <a:ext cx="9667875" cy="437545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1"/>
              </a:buClr>
              <a:buFont typeface="Wingdings" panose="05000000000000000000" pitchFamily="2" charset="2"/>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harp Grotesk Light 20" panose="00000400000000000000" pitchFamily="50"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tx1"/>
              </a:buClr>
              <a:buFont typeface="Sharp Grotesk Light 20" panose="00000400000000000000" pitchFamily="50"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AU" sz="1400" b="0" i="0" u="none" strike="noStrike" baseline="0" dirty="0">
              <a:latin typeface="NimbusRomNo9L-Regu"/>
            </a:endParaRPr>
          </a:p>
          <a:p>
            <a:pPr algn="l"/>
            <a:endParaRPr lang="en-AU" sz="1600" dirty="0"/>
          </a:p>
        </p:txBody>
      </p:sp>
    </p:spTree>
    <p:extLst>
      <p:ext uri="{BB962C8B-B14F-4D97-AF65-F5344CB8AC3E}">
        <p14:creationId xmlns:p14="http://schemas.microsoft.com/office/powerpoint/2010/main" val="1484198246"/>
      </p:ext>
    </p:extLst>
  </p:cSld>
  <p:clrMapOvr>
    <a:masterClrMapping/>
  </p:clrMapOvr>
</p:sld>
</file>

<file path=ppt/theme/theme1.xml><?xml version="1.0" encoding="utf-8"?>
<a:theme xmlns:a="http://schemas.openxmlformats.org/drawingml/2006/main" name="2_Dark">
  <a:themeElements>
    <a:clrScheme name="Research Foundation">
      <a:dk1>
        <a:srgbClr val="112333"/>
      </a:dk1>
      <a:lt1>
        <a:srgbClr val="F4F2F2"/>
      </a:lt1>
      <a:dk2>
        <a:srgbClr val="112333"/>
      </a:dk2>
      <a:lt2>
        <a:srgbClr val="F4F2F2"/>
      </a:lt2>
      <a:accent1>
        <a:srgbClr val="00A89A"/>
      </a:accent1>
      <a:accent2>
        <a:srgbClr val="0086B2"/>
      </a:accent2>
      <a:accent3>
        <a:srgbClr val="7E8C91"/>
      </a:accent3>
      <a:accent4>
        <a:srgbClr val="007E73"/>
      </a:accent4>
      <a:accent5>
        <a:srgbClr val="F0ECEC"/>
      </a:accent5>
      <a:accent6>
        <a:srgbClr val="006585"/>
      </a:accent6>
      <a:hlink>
        <a:srgbClr val="006585"/>
      </a:hlink>
      <a:folHlink>
        <a:srgbClr val="006057"/>
      </a:folHlink>
    </a:clrScheme>
    <a:fontScheme name="Sharp Grotesk">
      <a:majorFont>
        <a:latin typeface="Sharp Grotesk Medium 20"/>
        <a:ea typeface=""/>
        <a:cs typeface=""/>
      </a:majorFont>
      <a:minorFont>
        <a:latin typeface="Sharp Grotesk Light 20"/>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Mixed">
  <a:themeElements>
    <a:clrScheme name="Research Foundation">
      <a:dk1>
        <a:srgbClr val="112333"/>
      </a:dk1>
      <a:lt1>
        <a:srgbClr val="F4F2F2"/>
      </a:lt1>
      <a:dk2>
        <a:srgbClr val="112333"/>
      </a:dk2>
      <a:lt2>
        <a:srgbClr val="F4F2F2"/>
      </a:lt2>
      <a:accent1>
        <a:srgbClr val="00A89A"/>
      </a:accent1>
      <a:accent2>
        <a:srgbClr val="0086B2"/>
      </a:accent2>
      <a:accent3>
        <a:srgbClr val="7E8C91"/>
      </a:accent3>
      <a:accent4>
        <a:srgbClr val="007E73"/>
      </a:accent4>
      <a:accent5>
        <a:srgbClr val="F0ECEC"/>
      </a:accent5>
      <a:accent6>
        <a:srgbClr val="006585"/>
      </a:accent6>
      <a:hlink>
        <a:srgbClr val="006585"/>
      </a:hlink>
      <a:folHlink>
        <a:srgbClr val="006057"/>
      </a:folHlink>
    </a:clrScheme>
    <a:fontScheme name="Sharp Grotesk">
      <a:majorFont>
        <a:latin typeface="Sharp Grotesk Medium 20"/>
        <a:ea typeface=""/>
        <a:cs typeface=""/>
      </a:majorFont>
      <a:minorFont>
        <a:latin typeface="Sharp Grotesk Light 20"/>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7EA602A3C7DA4B81B67DD7C3AD7C80" ma:contentTypeVersion="15" ma:contentTypeDescription="Create a new document." ma:contentTypeScope="" ma:versionID="8880d4d01dd74179926de8e4055df4df">
  <xsd:schema xmlns:xsd="http://www.w3.org/2001/XMLSchema" xmlns:xs="http://www.w3.org/2001/XMLSchema" xmlns:p="http://schemas.microsoft.com/office/2006/metadata/properties" xmlns:ns2="fe2355c8-beda-431f-bb7e-2c43dd65d216" xmlns:ns3="446793d2-603f-49ff-be7c-f5633527a2be" targetNamespace="http://schemas.microsoft.com/office/2006/metadata/properties" ma:root="true" ma:fieldsID="ca743572b04dbd1a1dacf5b40bdcdae2" ns2:_="" ns3:_="">
    <xsd:import namespace="fe2355c8-beda-431f-bb7e-2c43dd65d216"/>
    <xsd:import namespace="446793d2-603f-49ff-be7c-f5633527a2b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2355c8-beda-431f-bb7e-2c43dd65d2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da1071c-9b88-49b3-b21c-bedc2e8ec31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46793d2-603f-49ff-be7c-f5633527a2b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7dc7a993-1f72-4b44-9c81-28b095e76d43}" ma:internalName="TaxCatchAll" ma:showField="CatchAllData" ma:web="446793d2-603f-49ff-be7c-f5633527a2be">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e2355c8-beda-431f-bb7e-2c43dd65d216">
      <Terms xmlns="http://schemas.microsoft.com/office/infopath/2007/PartnerControls"/>
    </lcf76f155ced4ddcb4097134ff3c332f>
    <TaxCatchAll xmlns="446793d2-603f-49ff-be7c-f5633527a2be" xsi:nil="true"/>
    <SharedWithUsers xmlns="446793d2-603f-49ff-be7c-f5633527a2be">
      <UserInfo>
        <DisplayName>Emily Milosev</DisplayName>
        <AccountId>14</AccountId>
        <AccountType/>
      </UserInfo>
      <UserInfo>
        <DisplayName>Taylor Hood</DisplayName>
        <AccountId>24</AccountId>
        <AccountType/>
      </UserInfo>
    </SharedWithUsers>
  </documentManagement>
</p:properties>
</file>

<file path=customXml/itemProps1.xml><?xml version="1.0" encoding="utf-8"?>
<ds:datastoreItem xmlns:ds="http://schemas.openxmlformats.org/officeDocument/2006/customXml" ds:itemID="{DF5676E6-AE54-4E6A-83D2-A79215F76D40}">
  <ds:schemaRefs>
    <ds:schemaRef ds:uri="446793d2-603f-49ff-be7c-f5633527a2be"/>
    <ds:schemaRef ds:uri="fe2355c8-beda-431f-bb7e-2c43dd65d2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7B4AA31-E9EF-4E6A-A969-6FB7FF99CD86}">
  <ds:schemaRefs>
    <ds:schemaRef ds:uri="http://schemas.microsoft.com/sharepoint/v3/contenttype/forms"/>
  </ds:schemaRefs>
</ds:datastoreItem>
</file>

<file path=customXml/itemProps3.xml><?xml version="1.0" encoding="utf-8"?>
<ds:datastoreItem xmlns:ds="http://schemas.openxmlformats.org/officeDocument/2006/customXml" ds:itemID="{A29D439E-B815-40EF-8CB9-7705053D70BE}">
  <ds:schemaRefs>
    <ds:schemaRef ds:uri="2cebe456-3ad4-4cca-9055-907565c944eb"/>
    <ds:schemaRef ds:uri="446793d2-603f-49ff-be7c-f5633527a2be"/>
    <ds:schemaRef ds:uri="a4bcf8ed-cbfc-47ce-b994-d2ddaa43b3fb"/>
    <ds:schemaRef ds:uri="fe2355c8-beda-431f-bb7e-2c43dd65d216"/>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17075</TotalTime>
  <Words>2077</Words>
  <Application>Microsoft Office PowerPoint</Application>
  <PresentationFormat>Widescreen</PresentationFormat>
  <Paragraphs>304</Paragraphs>
  <Slides>21</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21</vt:i4>
      </vt:variant>
    </vt:vector>
  </HeadingPairs>
  <TitlesOfParts>
    <vt:vector size="32" baseType="lpstr">
      <vt:lpstr>Aptos</vt:lpstr>
      <vt:lpstr>Aptos Narrow</vt:lpstr>
      <vt:lpstr>Arial</vt:lpstr>
      <vt:lpstr>Calibri</vt:lpstr>
      <vt:lpstr>NimbusRomNo9L-Regu</vt:lpstr>
      <vt:lpstr>NimbusRomNo9L-ReguItal</vt:lpstr>
      <vt:lpstr>Sharp Grotesk Light 20</vt:lpstr>
      <vt:lpstr>Sharp Grotesk Medium 20</vt:lpstr>
      <vt:lpstr>Wingdings</vt:lpstr>
      <vt:lpstr>2_Dark</vt:lpstr>
      <vt:lpstr>3_Mixed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Briefing</dc:title>
  <dc:creator>Emily Milosev</dc:creator>
  <cp:lastModifiedBy>James Ross</cp:lastModifiedBy>
  <cp:revision>74</cp:revision>
  <dcterms:created xsi:type="dcterms:W3CDTF">2024-04-23T03:00:44Z</dcterms:created>
  <dcterms:modified xsi:type="dcterms:W3CDTF">2025-10-15T13:38:59Z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0x010100C94B1DA684D49347B0605ECF56A1F8C3</vt:lpwstr>
  </property>
  <property fmtid="{D5CDD505-2E9C-101B-9397-08002B2CF9AE}" pid="3" name="MediaServiceImageTags">
    <vt:lpwstr/>
  </property>
  <property fmtid="{D5CDD505-2E9C-101B-9397-08002B2CF9AE}" pid="4" name="MSIP_Label_5b083577-197b-450c-831d-654cf3f56dc2_Enabled">
    <vt:lpwstr>true</vt:lpwstr>
  </property>
  <property fmtid="{D5CDD505-2E9C-101B-9397-08002B2CF9AE}" pid="5" name="MSIP_Label_5b083577-197b-450c-831d-654cf3f56dc2_SetDate">
    <vt:lpwstr>2025-10-12T11:28:41Z</vt:lpwstr>
  </property>
  <property fmtid="{D5CDD505-2E9C-101B-9397-08002B2CF9AE}" pid="6" name="MSIP_Label_5b083577-197b-450c-831d-654cf3f56dc2_Method">
    <vt:lpwstr>Standard</vt:lpwstr>
  </property>
  <property fmtid="{D5CDD505-2E9C-101B-9397-08002B2CF9AE}" pid="7" name="MSIP_Label_5b083577-197b-450c-831d-654cf3f56dc2_Name">
    <vt:lpwstr>OFFICIAL</vt:lpwstr>
  </property>
  <property fmtid="{D5CDD505-2E9C-101B-9397-08002B2CF9AE}" pid="8" name="MSIP_Label_5b083577-197b-450c-831d-654cf3f56dc2_SiteId">
    <vt:lpwstr>823bfb03-da26-4cbf-a7d6-f02dbfdf182e</vt:lpwstr>
  </property>
  <property fmtid="{D5CDD505-2E9C-101B-9397-08002B2CF9AE}" pid="9" name="MSIP_Label_5b083577-197b-450c-831d-654cf3f56dc2_ActionId">
    <vt:lpwstr>ce5d8858-6cc1-4131-8c91-76b0b6bfdf5c</vt:lpwstr>
  </property>
  <property fmtid="{D5CDD505-2E9C-101B-9397-08002B2CF9AE}" pid="10" name="MSIP_Label_5b083577-197b-450c-831d-654cf3f56dc2_ContentBits">
    <vt:lpwstr>0</vt:lpwstr>
  </property>
  <property fmtid="{D5CDD505-2E9C-101B-9397-08002B2CF9AE}" pid="11" name="MSIP_Label_5b083577-197b-450c-831d-654cf3f56dc2_Tag">
    <vt:lpwstr>10, 3, 0, 1</vt:lpwstr>
  </property>
</Properties>
</file>